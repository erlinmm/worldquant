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C"/>
    <a:srgbClr val="0B477D"/>
    <a:srgbClr val="CF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5FB7A4-72C0-420E-96FF-41E86F280C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AF4263-E74B-44B4-88DE-82149BBA07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1A12D6-BD9F-43B1-935C-865B1AEBF6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E50EE-DE65-433A-962D-D09FD1BFA4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B9FDD5-8BE3-4138-8FA2-0F5921F25E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CA8715-79D3-47E7-A868-3EB4514ED1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4D401D-BAFA-42EF-9E5B-A3568DF83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538C05-F751-43D9-B1D1-1074B241E2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EF830-8F4E-4F05-ABFD-D8211D9DEB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A904C1-7EB8-4E01-9409-2D799DB2F9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0A1CA-FBA1-4DC1-B7C2-9AB063E9F4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14D0B1-18E8-44CA-BA71-6BEFBC2B21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468D35-60FA-4D72-BB77-590D0B9053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F0D306-6D7D-44AA-8D69-CE7BAD25E6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37332D-F04F-4236-9495-30AB6B6FE7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DAC31-CFEB-461C-B384-72CB750D4E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C700F3-94EE-4886-BA3B-21B3B2BC5E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E4D57F-1AD6-48EB-AEE8-79A1AD89E4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46EF70-A63F-4B56-8778-05D23B3E43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F99ACB-263C-4C9F-A42E-5A5E531875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D72E4-9604-4E27-81CE-605979B9F8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2D9E27-983D-4D2D-96DD-1DE93A0CB3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39E55A-4DE7-4DF8-AC68-97FAA2ACAC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C505ED-59C7-4EB4-A0E4-B3A80F8CC2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B38CB8-47D0-4E87-B674-97EF23346F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E5AEB-0C04-4811-988B-3CDEBC4B2E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0EB26F-1823-4CC1-89D2-DB17AFABE4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B1DB7F-9EF1-42CF-BF74-BBA180326C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6D5F2C-5701-4E08-864B-89C5ADEA4F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0A427C-7EF3-40D7-8110-35D7E8C0AF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2606040"/>
            <a:ext cx="10606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Alpha Auto Research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01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21720" y="6693480"/>
            <a:ext cx="3765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What we want to do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02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621720" y="6693480"/>
            <a:ext cx="7531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85800" y="1152000"/>
            <a:ext cx="10835280" cy="68544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2016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Find useful alpha in FX, faster.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85800" y="214884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Asset class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FX.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4389120" y="214884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Target horizon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Five minutes to two weeks.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8092440" y="2148840"/>
            <a:ext cx="34286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Research goal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Use large language models to accelerate an alpha research process that remains largely manual.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1325880" y="4160520"/>
            <a:ext cx="9509400" cy="914040"/>
          </a:xfrm>
          <a:prstGeom prst="roundRect">
            <a:avLst>
              <a:gd name="adj" fmla="val 8000"/>
            </a:avLst>
          </a:prstGeom>
          <a:solidFill>
            <a:srgbClr val="FFE5EE"/>
          </a:solidFill>
          <a:ln w="17640">
            <a:solidFill>
              <a:srgbClr val="FFC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The aim is not just to produce more predictions. 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It is to produce an automated system to produce more predictions.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How alpha research still works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03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5"/>
          <p:cNvSpPr/>
          <p:nvPr/>
        </p:nvSpPr>
        <p:spPr>
          <a:xfrm>
            <a:off x="621720" y="6693480"/>
            <a:ext cx="11300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640080" y="1417320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Signal idea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2514600" y="1417320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Choose data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4389120" y="1417320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Write signal 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6263640" y="1417320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Backtest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6263640" y="2719725"/>
            <a:ext cx="141696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Review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2057400" y="1728000"/>
            <a:ext cx="45720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3931920" y="1728000"/>
            <a:ext cx="45720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5806440" y="1728000"/>
            <a:ext cx="45720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2514600" y="2688300"/>
            <a:ext cx="1416960" cy="639720"/>
          </a:xfrm>
          <a:prstGeom prst="roundRect">
            <a:avLst>
              <a:gd name="adj" fmla="val 11429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Revise the idea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6941207" y="3337561"/>
            <a:ext cx="8779" cy="7041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6941207" y="2038680"/>
            <a:ext cx="8779" cy="64962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2"/>
          <p:cNvSpPr/>
          <p:nvPr/>
        </p:nvSpPr>
        <p:spPr>
          <a:xfrm flipH="1">
            <a:off x="3944118" y="2998929"/>
            <a:ext cx="2318615" cy="8820"/>
          </a:xfrm>
          <a:prstGeom prst="line">
            <a:avLst/>
          </a:prstGeom>
          <a:ln w="15120">
            <a:solidFill>
              <a:srgbClr val="005BAC"/>
            </a:solidFill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3"/>
          <p:cNvSpPr/>
          <p:nvPr/>
        </p:nvSpPr>
        <p:spPr>
          <a:xfrm flipV="1">
            <a:off x="3219341" y="2039040"/>
            <a:ext cx="8779" cy="621361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1005840" y="525780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85B86"/>
                </a:solidFill>
                <a:effectLst/>
                <a:uFillTx/>
                <a:latin typeface="Arial"/>
              </a:rPr>
              <a:t>Review has three outcomes: bin the idea, revise it and return to the research loop, or promote it for production follow-up.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7">
            <a:extLst>
              <a:ext uri="{FF2B5EF4-FFF2-40B4-BE49-F238E27FC236}">
                <a16:creationId xmlns:a16="http://schemas.microsoft.com/office/drawing/2014/main" id="{122A0843-7A24-2723-A7F0-55A045CB7A92}"/>
              </a:ext>
            </a:extLst>
          </p:cNvPr>
          <p:cNvSpPr/>
          <p:nvPr/>
        </p:nvSpPr>
        <p:spPr>
          <a:xfrm>
            <a:off x="6127206" y="4013518"/>
            <a:ext cx="1645560" cy="484020"/>
          </a:xfrm>
          <a:prstGeom prst="roundRect">
            <a:avLst>
              <a:gd name="adj" fmla="val 8000"/>
            </a:avLst>
          </a:prstGeom>
          <a:solidFill>
            <a:schemeClr val="accent1">
              <a:lumMod val="75000"/>
            </a:schemeClr>
          </a:solidFill>
          <a:ln w="0">
            <a:solidFill>
              <a:srgbClr val="003A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Bin the idea</a:t>
            </a:r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584475A4-AEFA-A871-4CEB-175251D75F84}"/>
              </a:ext>
            </a:extLst>
          </p:cNvPr>
          <p:cNvSpPr/>
          <p:nvPr/>
        </p:nvSpPr>
        <p:spPr>
          <a:xfrm>
            <a:off x="7680600" y="2998929"/>
            <a:ext cx="1234800" cy="18951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C109AEBD-C9D6-E141-6D18-440BF6DB5058}"/>
              </a:ext>
            </a:extLst>
          </p:cNvPr>
          <p:cNvSpPr/>
          <p:nvPr/>
        </p:nvSpPr>
        <p:spPr>
          <a:xfrm>
            <a:off x="8923198" y="2618941"/>
            <a:ext cx="1645559" cy="777615"/>
          </a:xfrm>
          <a:prstGeom prst="roundRect">
            <a:avLst>
              <a:gd name="adj" fmla="val 10256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15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Promote to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15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Alpha Bank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15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production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WebSim: distributed alpha research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04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621720" y="6693480"/>
            <a:ext cx="15069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685800" y="1051560"/>
            <a:ext cx="10835280" cy="411120"/>
          </a:xfrm>
          <a:prstGeom prst="roundRect">
            <a:avLst>
              <a:gd name="adj" fmla="val 17778"/>
            </a:avLst>
          </a:prstGeom>
          <a:solidFill>
            <a:srgbClr val="003A70"/>
          </a:solidFill>
          <a:ln w="0">
            <a:solidFill>
              <a:srgbClr val="003A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How WebSim worked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7724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Shared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market data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262440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Predefined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functions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447156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Write 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signal formula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631836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Run a web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backtest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816552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Receive scores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and feedback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10012680" y="1828800"/>
            <a:ext cx="1508400" cy="712800"/>
          </a:xfrm>
          <a:prstGeom prst="roundRect">
            <a:avLst>
              <a:gd name="adj" fmla="val 10256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Submit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 alpha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2286000" y="2185200"/>
            <a:ext cx="33804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4132800" y="2185200"/>
            <a:ext cx="33840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5"/>
          <p:cNvSpPr/>
          <p:nvPr/>
        </p:nvSpPr>
        <p:spPr>
          <a:xfrm>
            <a:off x="5979960" y="2185200"/>
            <a:ext cx="33840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7827120" y="2185200"/>
            <a:ext cx="33840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9674280" y="2185200"/>
            <a:ext cx="338400" cy="360"/>
          </a:xfrm>
          <a:prstGeom prst="line">
            <a:avLst/>
          </a:prstGeom>
          <a:ln w="165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960120" y="2788920"/>
            <a:ext cx="10332360" cy="50256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Public materials describe rankings, competitions, research-consultant opportunities and potential compensation for qualifying submissions.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777240" y="3794760"/>
            <a:ext cx="4617360" cy="959760"/>
          </a:xfrm>
          <a:prstGeom prst="roundRect">
            <a:avLst>
              <a:gd name="adj" fmla="val 7619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Research workforce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 globally distributed consultant network, with substantial participation from lower-cost talent centres outside traditional financial hubs.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6D51DB-C324-DCAC-608A-7B98B5497DE2}"/>
              </a:ext>
            </a:extLst>
          </p:cNvPr>
          <p:cNvGrpSpPr/>
          <p:nvPr/>
        </p:nvGrpSpPr>
        <p:grpSpPr>
          <a:xfrm>
            <a:off x="5623560" y="3895713"/>
            <a:ext cx="5714640" cy="703800"/>
            <a:chOff x="5623560" y="3840480"/>
            <a:chExt cx="5714640" cy="703800"/>
          </a:xfrm>
        </p:grpSpPr>
        <p:sp>
          <p:nvSpPr>
            <p:cNvPr id="72" name="Text 20"/>
            <p:cNvSpPr/>
            <p:nvPr/>
          </p:nvSpPr>
          <p:spPr>
            <a:xfrm>
              <a:off x="562356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/>
                </a:rPr>
                <a:t>India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 21"/>
            <p:cNvSpPr/>
            <p:nvPr/>
          </p:nvSpPr>
          <p:spPr>
            <a:xfrm>
              <a:off x="679392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85000" lnSpcReduction="9999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 dirty="0">
                  <a:solidFill>
                    <a:srgbClr val="003A70"/>
                  </a:solidFill>
                  <a:effectLst/>
                  <a:uFillTx/>
                  <a:latin typeface="Arial"/>
                </a:rPr>
                <a:t>Mainland China</a:t>
              </a:r>
              <a:endParaRPr lang="en-US" sz="9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 22"/>
            <p:cNvSpPr/>
            <p:nvPr/>
          </p:nvSpPr>
          <p:spPr>
            <a:xfrm>
              <a:off x="796428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/>
                </a:rPr>
                <a:t>Vietnam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 23"/>
            <p:cNvSpPr/>
            <p:nvPr/>
          </p:nvSpPr>
          <p:spPr>
            <a:xfrm>
              <a:off x="913500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/>
                </a:rPr>
                <a:t>Indonesia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 24"/>
            <p:cNvSpPr/>
            <p:nvPr/>
          </p:nvSpPr>
          <p:spPr>
            <a:xfrm>
              <a:off x="10305360" y="384048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/>
                </a:rPr>
                <a:t>Malaysia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 25"/>
            <p:cNvSpPr/>
            <p:nvPr/>
          </p:nvSpPr>
          <p:spPr>
            <a:xfrm>
              <a:off x="562356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/>
                </a:rPr>
                <a:t>Kenya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 26"/>
            <p:cNvSpPr/>
            <p:nvPr/>
          </p:nvSpPr>
          <p:spPr>
            <a:xfrm>
              <a:off x="679392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/>
                </a:rPr>
                <a:t>Nigeria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 27"/>
            <p:cNvSpPr/>
            <p:nvPr/>
          </p:nvSpPr>
          <p:spPr>
            <a:xfrm>
              <a:off x="796428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/>
                </a:rPr>
                <a:t>Armenia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 28"/>
            <p:cNvSpPr/>
            <p:nvPr/>
          </p:nvSpPr>
          <p:spPr>
            <a:xfrm>
              <a:off x="913500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FFE5EE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/>
                </a:rPr>
                <a:t>Georgia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 29"/>
            <p:cNvSpPr/>
            <p:nvPr/>
          </p:nvSpPr>
          <p:spPr>
            <a:xfrm>
              <a:off x="10305360" y="4270320"/>
              <a:ext cx="1032840" cy="273960"/>
            </a:xfrm>
            <a:prstGeom prst="roundRect">
              <a:avLst>
                <a:gd name="adj" fmla="val 16667"/>
              </a:avLst>
            </a:prstGeom>
            <a:solidFill>
              <a:srgbClr val="CFEAFF"/>
            </a:solidFill>
            <a:ln w="0">
              <a:solidFill>
                <a:srgbClr val="CFEAFF">
                  <a:alpha val="0"/>
                </a:srgb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 lnSpcReduction="2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u="none" strike="noStrike">
                  <a:solidFill>
                    <a:srgbClr val="003A70"/>
                  </a:solidFill>
                  <a:effectLst/>
                  <a:uFillTx/>
                  <a:latin typeface="Arial"/>
                </a:rPr>
                <a:t>Hungary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Shape 30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1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Sources: Finding Alphas, 2nd ed. · WorldQuant BRAIN Research Consultant Program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From WebSim to BRAIN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05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621720" y="6693480"/>
            <a:ext cx="18835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777240" y="1207080"/>
            <a:ext cx="914040" cy="292320"/>
          </a:xfrm>
          <a:prstGeom prst="roundRect">
            <a:avLst>
              <a:gd name="adj" fmla="val 15625"/>
            </a:avLst>
          </a:prstGeom>
          <a:solidFill>
            <a:srgbClr val="CFEAFF"/>
          </a:solidFill>
          <a:ln w="0">
            <a:solidFill>
              <a:srgbClr val="CFEA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2019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777240" y="1600200"/>
            <a:ext cx="3245760" cy="2285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WebSim / Virtual Research Center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WorldQuant reported more than 20 million alphas produced and more than 2,000 research consultants.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4023360" y="2743200"/>
            <a:ext cx="411480" cy="360"/>
          </a:xfrm>
          <a:prstGeom prst="line">
            <a:avLst/>
          </a:prstGeom>
          <a:ln w="1764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4572000" y="1207080"/>
            <a:ext cx="914040" cy="292320"/>
          </a:xfrm>
          <a:prstGeom prst="roundRect">
            <a:avLst>
              <a:gd name="adj" fmla="val 15625"/>
            </a:avLst>
          </a:prstGeom>
          <a:solidFill>
            <a:srgbClr val="CFEAFF"/>
          </a:solidFill>
          <a:ln w="0">
            <a:solidFill>
              <a:srgbClr val="CFEA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2022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4572000" y="1600200"/>
            <a:ext cx="3245760" cy="2285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BRAIN opens more broadly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More than 21,000 users, 700 consultants and 65,000 data fields were reported.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7818120" y="2743200"/>
            <a:ext cx="411480" cy="360"/>
          </a:xfrm>
          <a:prstGeom prst="line">
            <a:avLst/>
          </a:prstGeom>
          <a:ln w="1764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8366760" y="1207080"/>
            <a:ext cx="914040" cy="292320"/>
          </a:xfrm>
          <a:prstGeom prst="roundRect">
            <a:avLst>
              <a:gd name="adj" fmla="val 15625"/>
            </a:avLst>
          </a:prstGeom>
          <a:solidFill>
            <a:srgbClr val="FFE5EE"/>
          </a:solidFill>
          <a:ln w="0">
            <a:solidFill>
              <a:srgbClr val="FFE5EE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Current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8366760" y="1600200"/>
            <a:ext cx="3245760" cy="2285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 global research community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550,000+ users, 16,000+ consultants, 17 regions and access to 400,000+ data fields.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1097280" y="4892040"/>
            <a:ext cx="10012320" cy="68544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 competitive edge grew through three transitions: 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platform → community → a much larger research funnel.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Sources: Finding Alphas, 2nd ed. · WorldQuant, 2022 Global Alphathon release · Current BRAIN consultant programme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The problem created by scale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06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621720" y="6693480"/>
            <a:ext cx="22604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822960" y="1143000"/>
            <a:ext cx="3474360" cy="1554120"/>
          </a:xfrm>
          <a:prstGeom prst="roundRect">
            <a:avLst>
              <a:gd name="adj" fmla="val 4706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20M+ alphas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reported as produced by World Quant by 2019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4617720" y="1143000"/>
            <a:ext cx="667476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The platform advantage is not only the formulas.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It includes the accumulated history of tests, failed ideas, correlations, combinations, decay and research infrastructure.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822960" y="3429000"/>
            <a:ext cx="4845960" cy="1234080"/>
          </a:xfrm>
          <a:prstGeom prst="roundRect">
            <a:avLst>
              <a:gd name="adj" fmla="val 4848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The research problem changes</a:t>
            </a:r>
          </a:p>
          <a:p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At this scale, the job moves from finding individual signals to selecting and combining them.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5989320" y="3154680"/>
            <a:ext cx="5303160" cy="1737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Portfolio Managers’ challenge</a:t>
            </a:r>
          </a:p>
          <a:p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Which signals still work?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Which are genuinely different?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Which combinations improve portfolio Sharpe?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Which should be retired?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960120" y="5532120"/>
            <a:ext cx="10240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Caveat: produced candidates are not the same as accepted, independent or live production signals.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Sources: Finding Alphas, 2nd ed. · Kakushadze &amp; Yu, How to Combine a Billion Alphas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Deep learning offered another route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07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621720" y="6693480"/>
            <a:ext cx="26373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777240" y="1051560"/>
            <a:ext cx="10789560" cy="50256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Learn prediction directly from data rather than write every signal formula.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777239" y="1828800"/>
            <a:ext cx="3629063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Two Sigma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Publicly discussed deep learning for sequence-based forecasting and other stages of quantitative investing.</a:t>
            </a:r>
            <a:endParaRPr lang="en-US" sz="10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4443738" y="1828800"/>
            <a:ext cx="342864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Man AHL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Described machine-learning systems traded in client portfolios since early 2014.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7909200" y="1828800"/>
            <a:ext cx="370332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BlackRock Systematic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Public materials describe systematic investing supported by large signal libraries and machine learning.</a:t>
            </a:r>
            <a:endParaRPr lang="en-US" sz="10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777240" y="3337560"/>
            <a:ext cx="5257440" cy="1271261"/>
          </a:xfrm>
          <a:prstGeom prst="roundRect">
            <a:avLst>
              <a:gd name="adj" fmla="val 4571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Why this became widely adopted in equities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Thousands of stocks allow the same prediction problem to be repeated across a large cross-section, creating many more training examples.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6309360" y="3337560"/>
            <a:ext cx="5257440" cy="1271261"/>
          </a:xfrm>
          <a:prstGeom prst="roundRect">
            <a:avLst>
              <a:gd name="adj" fmla="val 4571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Why applications have been more limited in FX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There are far fewer relatively independent instruments. Extending the history mixes market regimes; increasing model size raises overfitting risk.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1020960" y="5111216"/>
            <a:ext cx="10149480" cy="862843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With few independent instruments and a low signal-to-noise ratio, FX signal research still often relies on classical statistical prediction models with deliberately modest complexity.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Sources: Two Sigma: Deep Learning for Sequences in Quantitative Finance · Man AHL: The Rise of Machine Learning · BlackRock Systematic Investing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621720" y="132840"/>
            <a:ext cx="10423800" cy="11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“Give enough monkeys enough typewriters and enough time, and one will eventually write a Shakespeare sonnet.”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08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621720" y="6693480"/>
            <a:ext cx="30139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512739" y="124380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i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Or</a:t>
            </a:r>
            <a:r>
              <a:rPr lang="en-US" sz="1700" b="1" i="1" dirty="0">
                <a:solidFill>
                  <a:srgbClr val="E4002B"/>
                </a:solidFill>
                <a:latin typeface="Arial"/>
              </a:rPr>
              <a:t> </a:t>
            </a:r>
            <a:r>
              <a:rPr lang="en-US" sz="1700" b="1" i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a useful alpha formula.</a:t>
            </a:r>
            <a:endParaRPr lang="en-US" sz="17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899967" y="1788300"/>
            <a:ext cx="8392066" cy="68544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But we do not have infinite time. We need to do more than just random generation.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1899966" y="2970099"/>
            <a:ext cx="3936237" cy="2114082"/>
          </a:xfrm>
          <a:prstGeom prst="roundRect">
            <a:avLst>
              <a:gd name="adj" fmla="val 6400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World Quant scaled with people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70" b="0" u="none" strike="noStrike" dirty="0">
              <a:solidFill>
                <a:srgbClr val="0B477D"/>
              </a:solidFill>
              <a:effectLst/>
              <a:uFillTx/>
              <a:latin typeface="Arial"/>
              <a:ea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Crowdsourcing increased the number of researchers, ideas, formulas and experiments.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6033016" y="2970099"/>
            <a:ext cx="4259017" cy="2114082"/>
          </a:xfrm>
          <a:prstGeom prst="roundRect">
            <a:avLst>
              <a:gd name="adj" fmla="val 6400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LLMs help scaling with auto-research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70" b="0" u="none" strike="noStrike" dirty="0">
              <a:solidFill>
                <a:srgbClr val="0B477D"/>
              </a:solidFill>
              <a:effectLst/>
              <a:uFillTx/>
              <a:latin typeface="Arial"/>
              <a:ea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They can help form hypotheses, implement tests, interpret feedback and reuse prior work.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The quotation is a common formulation of the Infinite Monkey Theorem, traced in its modern form to Émile Borel (1913) and later popularised by Arthur Eddington.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AlphaForge and AlphaAgent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09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621720" y="6693480"/>
            <a:ext cx="33908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68580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Alpha Forge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University of Chinese Academy of Sciences-led team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Proceedings of the AAAI Conference on Artificial Intelligence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April 2025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Earlier formula-mining systems could produce factors, but fixed combinations did not adapt well as factor quality changed over time.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 neural generator creates formulaic factors; a second model selects and dynamically reweights them using recent performance.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It automated both factor creation and time-varying factor combination.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Authors report outperforming contemporary factor-mining benchmarks and improving portfolio returns, including a real-money investment experiment.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635508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Alpha Agent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Sun Yat-sen University-led team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31st ACM SIGKDD Conference on Knowledge Discovery and Data Mining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August 2025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Language-model-generated factors can become repetitive, overly complex or disconnected from the stated market hypothesis.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The system checks originality against existing formulas, verifies hypothesis–factor alignment and limits unnecessary complexity.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It adds structure and control to language-model factor generation.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Authors report stronger factor performance and improved novelty on CSI 500 and S&amp;P 500 experiments.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Shi et al., AlphaForge · Tang et al., AlphaAgent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10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5"/>
          <p:cNvSpPr/>
          <p:nvPr/>
        </p:nvSpPr>
        <p:spPr>
          <a:xfrm>
            <a:off x="621720" y="6693480"/>
            <a:ext cx="37677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917593" y="595481"/>
            <a:ext cx="10515240" cy="23778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en-US" sz="2400" b="1" dirty="0">
                <a:solidFill>
                  <a:srgbClr val="003A70"/>
                </a:solidFill>
                <a:ea typeface="Arial"/>
              </a:rPr>
              <a:t>R&amp;D-Agent(Q): from factor generation to an R&amp;D loop</a:t>
            </a:r>
            <a:endParaRPr lang="en-US" sz="2400" dirty="0">
              <a:solidFill>
                <a:srgbClr val="000000"/>
              </a:solidFill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Microsoft Research Asia-led team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Thirty-ninth Conference on Neural Information Processing Systems, Datasets and Benchmarks Track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Story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: R&amp;D-Agent(Q) treats quantitative research as a connected process: research proposes a hypothesis, development writes code, market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backtests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 produce feedback, and that feedback changes the next research direction.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Reported result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: up to 2× higher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annualised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 returns than classical factor libraries while using 70% fewer factors; </a:t>
            </a:r>
            <a:r>
              <a:rPr lang="en-US" sz="1400" dirty="0">
                <a:solidFill>
                  <a:srgbClr val="285B86"/>
                </a:solidFill>
              </a:rPr>
              <a:t>open-source implementation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7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8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Microsoft Research: R&amp;D-Agent-Quant · NeurIPS 2025 publication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5C845A-746A-D265-7989-71E959F82EEC}"/>
              </a:ext>
            </a:extLst>
          </p:cNvPr>
          <p:cNvGrpSpPr/>
          <p:nvPr/>
        </p:nvGrpSpPr>
        <p:grpSpPr>
          <a:xfrm>
            <a:off x="915480" y="3884720"/>
            <a:ext cx="10517353" cy="1389600"/>
            <a:chOff x="914400" y="1508760"/>
            <a:chExt cx="10517353" cy="1389600"/>
          </a:xfrm>
        </p:grpSpPr>
        <p:sp>
          <p:nvSpPr>
            <p:cNvPr id="158" name="Text 6"/>
            <p:cNvSpPr/>
            <p:nvPr/>
          </p:nvSpPr>
          <p:spPr>
            <a:xfrm>
              <a:off x="914400" y="1554480"/>
              <a:ext cx="1508400" cy="68544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Research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hypothesis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 7"/>
            <p:cNvSpPr/>
            <p:nvPr/>
          </p:nvSpPr>
          <p:spPr>
            <a:xfrm>
              <a:off x="3017520" y="1554480"/>
              <a:ext cx="1508400" cy="68544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Development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task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 8"/>
            <p:cNvSpPr/>
            <p:nvPr/>
          </p:nvSpPr>
          <p:spPr>
            <a:xfrm>
              <a:off x="5120640" y="1554480"/>
              <a:ext cx="1508400" cy="68544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Code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implementation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Text 9"/>
            <p:cNvSpPr/>
            <p:nvPr/>
          </p:nvSpPr>
          <p:spPr>
            <a:xfrm>
              <a:off x="7223760" y="1554480"/>
              <a:ext cx="1508400" cy="68544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Backtest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Shape 10"/>
            <p:cNvSpPr/>
            <p:nvPr/>
          </p:nvSpPr>
          <p:spPr>
            <a:xfrm>
              <a:off x="2423160" y="1901880"/>
              <a:ext cx="594360" cy="360"/>
            </a:xfrm>
            <a:prstGeom prst="line">
              <a:avLst/>
            </a:prstGeom>
            <a:ln w="2016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Shape 11"/>
            <p:cNvSpPr/>
            <p:nvPr/>
          </p:nvSpPr>
          <p:spPr>
            <a:xfrm>
              <a:off x="4526280" y="1901880"/>
              <a:ext cx="594360" cy="360"/>
            </a:xfrm>
            <a:prstGeom prst="line">
              <a:avLst/>
            </a:prstGeom>
            <a:ln w="2016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Shape 12"/>
            <p:cNvSpPr/>
            <p:nvPr/>
          </p:nvSpPr>
          <p:spPr>
            <a:xfrm>
              <a:off x="6629400" y="1901880"/>
              <a:ext cx="594360" cy="360"/>
            </a:xfrm>
            <a:prstGeom prst="line">
              <a:avLst/>
            </a:prstGeom>
            <a:ln w="2016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 13"/>
            <p:cNvSpPr/>
            <p:nvPr/>
          </p:nvSpPr>
          <p:spPr>
            <a:xfrm>
              <a:off x="9308880" y="1508760"/>
              <a:ext cx="2122873" cy="776880"/>
            </a:xfrm>
            <a:prstGeom prst="roundRect">
              <a:avLst>
                <a:gd name="adj" fmla="val 9412"/>
              </a:avLst>
            </a:prstGeom>
            <a:solidFill>
              <a:srgbClr val="EAF6FF"/>
            </a:solidFill>
            <a:ln w="1764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1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Feedback:</a:t>
              </a:r>
              <a:endParaRPr lang="en-US" sz="113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1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evaluate the result and set the next research direction</a:t>
              </a:r>
              <a:endParaRPr lang="en-US" sz="113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Shape 12">
              <a:extLst>
                <a:ext uri="{FF2B5EF4-FFF2-40B4-BE49-F238E27FC236}">
                  <a16:creationId xmlns:a16="http://schemas.microsoft.com/office/drawing/2014/main" id="{2DDB9AEC-C2BC-D5AF-8B72-5FCEE7327E45}"/>
                </a:ext>
              </a:extLst>
            </p:cNvPr>
            <p:cNvSpPr/>
            <p:nvPr/>
          </p:nvSpPr>
          <p:spPr>
            <a:xfrm>
              <a:off x="8732160" y="1897200"/>
              <a:ext cx="594360" cy="360"/>
            </a:xfrm>
            <a:prstGeom prst="line">
              <a:avLst/>
            </a:prstGeom>
            <a:ln w="2016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4704BCE-833E-12A4-FEC5-12B8205EF334}"/>
                </a:ext>
              </a:extLst>
            </p:cNvPr>
            <p:cNvGrpSpPr/>
            <p:nvPr/>
          </p:nvGrpSpPr>
          <p:grpSpPr>
            <a:xfrm>
              <a:off x="1792650" y="2212920"/>
              <a:ext cx="8606100" cy="685440"/>
              <a:chOff x="1691280" y="2240280"/>
              <a:chExt cx="8606100" cy="685440"/>
            </a:xfrm>
          </p:grpSpPr>
          <p:sp>
            <p:nvSpPr>
              <p:cNvPr id="166" name="Shape 14"/>
              <p:cNvSpPr/>
              <p:nvPr/>
            </p:nvSpPr>
            <p:spPr>
              <a:xfrm flipH="1">
                <a:off x="1691280" y="2923200"/>
                <a:ext cx="8606100" cy="360"/>
              </a:xfrm>
              <a:prstGeom prst="line">
                <a:avLst/>
              </a:prstGeom>
              <a:ln w="20160">
                <a:solidFill>
                  <a:srgbClr val="005BAC"/>
                </a:solidFill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Shape 15"/>
              <p:cNvSpPr/>
              <p:nvPr/>
            </p:nvSpPr>
            <p:spPr>
              <a:xfrm flipV="1">
                <a:off x="1691280" y="2240280"/>
                <a:ext cx="360" cy="685440"/>
              </a:xfrm>
              <a:prstGeom prst="line">
                <a:avLst/>
              </a:prstGeom>
              <a:ln w="16560">
                <a:solidFill>
                  <a:srgbClr val="005BAC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Shape 15">
                <a:extLst>
                  <a:ext uri="{FF2B5EF4-FFF2-40B4-BE49-F238E27FC236}">
                    <a16:creationId xmlns:a16="http://schemas.microsoft.com/office/drawing/2014/main" id="{10AA98E6-62D3-4B43-5DE5-BE712C3695B9}"/>
                  </a:ext>
                </a:extLst>
              </p:cNvPr>
              <p:cNvSpPr/>
              <p:nvPr/>
            </p:nvSpPr>
            <p:spPr>
              <a:xfrm flipV="1">
                <a:off x="10297020" y="2313000"/>
                <a:ext cx="0" cy="609840"/>
              </a:xfrm>
              <a:prstGeom prst="line">
                <a:avLst/>
              </a:prstGeom>
              <a:ln w="16560">
                <a:solidFill>
                  <a:srgbClr val="005BAC"/>
                </a:solidFill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Guided search and lineage-aware search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11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5"/>
          <p:cNvSpPr/>
          <p:nvPr/>
        </p:nvSpPr>
        <p:spPr>
          <a:xfrm>
            <a:off x="621720" y="6693480"/>
            <a:ext cx="41443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68580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Alpha Jungle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Institute for Interdisciplinary Information Sciences, Tsinghua University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Proceedings of the AAAI Conference on Artificial Intelligence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March 2026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The formula space is enormous. Genetic and reinforcement-learning searches can be inefficient or produce opaque, repetitive expressions.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Each candidate formula becomes a node in a search tree.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/>
              </a:rPr>
              <a:t>Backtest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 feedback decides which branch deserves further refinement.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The language model guides a structured search and avoids frequently repeated subtrees.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Paper reports better predictive accuracy, trading performance and interpretability than existing methods on real-world stock data.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635508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Alpha PROBE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Peking University and </a:t>
            </a:r>
            <a:r>
              <a:rPr lang="en-US" sz="1200" u="none" strike="noStrike" dirty="0" err="1">
                <a:solidFill>
                  <a:srgbClr val="285B86"/>
                </a:solidFill>
                <a:effectLst/>
                <a:uFillTx/>
                <a:latin typeface="Arial"/>
              </a:rPr>
              <a:t>Zhengren</a:t>
            </a:r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 Quant researchers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February 2026 preprint</a:t>
            </a:r>
          </a:p>
          <a:p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Flat factor pools and short parent–child chains lose the global structure of how the library was created.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Factors are stored in a directed family graph; the full ancestral trace guides the next search.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It uses global lineage, not only local parent-child mutations.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Authors report improved factor quality and reduced redundant search on Chinese equity data.</a:t>
            </a:r>
            <a:r>
              <a:rPr lang="en-US" sz="1400" dirty="0">
                <a:solidFill>
                  <a:srgbClr val="285B86"/>
                </a:solidFill>
              </a:rPr>
              <a:t> Open-source implementation</a:t>
            </a:r>
            <a:endParaRPr lang="en-US" sz="1400" dirty="0">
              <a:solidFill>
                <a:srgbClr val="000000"/>
              </a:solidFill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Shi, Duan &amp; Li, Navigating the Alpha Jungle · Guo et al., AlphaPROBE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QuantaAlpha and FactorMiner: memory becomes active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12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5"/>
          <p:cNvSpPr/>
          <p:nvPr/>
        </p:nvSpPr>
        <p:spPr>
          <a:xfrm>
            <a:off x="621720" y="6693480"/>
            <a:ext cx="45212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68580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Quanta Alpha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u="none" strike="noStrike" dirty="0" err="1">
                <a:solidFill>
                  <a:srgbClr val="285B86"/>
                </a:solidFill>
                <a:effectLst/>
                <a:uFillTx/>
                <a:latin typeface="Arial"/>
              </a:rPr>
              <a:t>AIFin</a:t>
            </a:r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 Lab-led collaboration spanning Shanghai University of Finance and Economics and partner institutions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February 2026 preprint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Multi-round agents can drift after noisy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/>
              </a:rPr>
              <a:t>backtest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 feedback and often fail to reuse validated parts of earlier research.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 full path—hypothesis, factor, implementation and feedback—is treated as a trajectory. Weak steps are mutated; useful segments are recombined.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The reusable unit becomes part of the research path, not only the final formula.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Authors report strong CSI 300 performance and transfer of mined factors to CSI 500 and S&amp;P 500.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6336669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Factor Miner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u="none" strike="noStrike" dirty="0" err="1">
                <a:solidFill>
                  <a:srgbClr val="285B86"/>
                </a:solidFill>
                <a:effectLst/>
                <a:uFillTx/>
                <a:latin typeface="Arial"/>
              </a:rPr>
              <a:t>Yanlong</a:t>
            </a:r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 Wang, Jian Xu, </a:t>
            </a:r>
            <a:r>
              <a:rPr lang="en-US" sz="1200" u="none" strike="noStrike" dirty="0" err="1">
                <a:solidFill>
                  <a:srgbClr val="285B86"/>
                </a:solidFill>
                <a:effectLst/>
                <a:uFillTx/>
                <a:latin typeface="Arial"/>
              </a:rPr>
              <a:t>Hongkang</a:t>
            </a:r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 Zhang and collaborators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February 2026 preprint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As the factor library grows, the search becomes crowded with redundant ideas and repeated failures.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Executable research skills are paired with experience memory that distils successful patterns, rejection reasons and redundancy constraints.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The system explicitly stores failures and uses them to steer later generation.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Authors report better factor mining performance and reduced redundant exploration on equity benchmarks.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Han et al., QuantaAlpha · Wang et al., FactorMiner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AlphaLogics and FactorEngine: from factors to research experience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13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621720" y="6693480"/>
            <a:ext cx="489816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68580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Alpha Logics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Shenzhen University team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March 2026 preprint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Automated systems increasingly discover factors, but the underlying market logic remains handcrafted and hard to scale.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The system builds a library of market logics and updates each logic using the results of the factors it generates.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It moves memory from factor-level storage towards logic-level learning.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Authors report improvements from logic-guided generation over direct factor generation baselines.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6355080" y="1143000"/>
            <a:ext cx="5440320" cy="49374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Factor Engine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Academic collaboration</a:t>
            </a:r>
          </a:p>
          <a:p>
            <a:r>
              <a:rPr lang="en-US" sz="1200" u="none" strike="noStrike" dirty="0">
                <a:solidFill>
                  <a:srgbClr val="285B86"/>
                </a:solidFill>
                <a:effectLst/>
                <a:uFillTx/>
                <a:latin typeface="Arial"/>
              </a:rPr>
              <a:t>March 2026 preprint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Problem: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Many systems restrict factors to short formula expressions, limiting the range of executable trading logic.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Idea: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 factor can be an executable program. The system separates logic search from parameter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/>
              </a:rPr>
              <a:t>optimisation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 and stores experience, including failures.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</a:rPr>
              <a:t>Novelty: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It broadens the research object from formula to program and uses experience to guide revisions.</a:t>
            </a: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Reported result: 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Authors report better factor discovery performance against formula-based baselines.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8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Weng et al., AlphaLogics · Lin et al., FactorEngine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How the published approaches differ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14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621720" y="6693480"/>
            <a:ext cx="52747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685800" y="1143000"/>
            <a:ext cx="1517400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Approach</a:t>
            </a:r>
            <a:endParaRPr lang="en-US" sz="9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2203201" y="1143000"/>
            <a:ext cx="2098776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Main research object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4301977" y="1143000"/>
            <a:ext cx="3254678" cy="56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How it learns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7556655" y="1143000"/>
            <a:ext cx="3964425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Evidence status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685800" y="175680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AlphaForge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2203201" y="175680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Complete factor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4301977" y="175680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Neural generation + dynamic combination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7556655" y="175680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AAAI 2025; reports benchmark and real-money experiment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685800" y="237096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AlphaAgent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2203201" y="237096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Complete formula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4301977" y="237096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LLM with originality and complexity controls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7556655" y="237096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KDD 2025; reports CSI 500 and S&amp;P 500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685800" y="298476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R&amp;D-Agent(Q)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2203201" y="298476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Factor, model and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0"/>
          <p:cNvSpPr/>
          <p:nvPr/>
        </p:nvSpPr>
        <p:spPr>
          <a:xfrm>
            <a:off x="4301977" y="298476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Backtest feedback drives next research task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7556655" y="298476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0B477D"/>
                </a:solidFill>
                <a:effectLst/>
                <a:uFillTx/>
                <a:latin typeface="Arial"/>
              </a:rPr>
              <a:t>NeurIPS</a:t>
            </a: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 2025; reports return improvements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2"/>
          <p:cNvSpPr/>
          <p:nvPr/>
        </p:nvSpPr>
        <p:spPr>
          <a:xfrm>
            <a:off x="685800" y="359892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Alpha Jungle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3"/>
          <p:cNvSpPr/>
          <p:nvPr/>
        </p:nvSpPr>
        <p:spPr>
          <a:xfrm>
            <a:off x="2203201" y="359892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Formula branch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4301977" y="359892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Tree search guided by backtest results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7556655" y="359892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AAAI 2026; reports equity-market experiments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685800" y="421272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AlphaPROBE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7"/>
          <p:cNvSpPr/>
          <p:nvPr/>
        </p:nvSpPr>
        <p:spPr>
          <a:xfrm>
            <a:off x="2203201" y="421272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Factor lineage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8"/>
          <p:cNvSpPr/>
          <p:nvPr/>
        </p:nvSpPr>
        <p:spPr>
          <a:xfrm>
            <a:off x="4301977" y="421272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Ancestry-aware search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9"/>
          <p:cNvSpPr/>
          <p:nvPr/>
        </p:nvSpPr>
        <p:spPr>
          <a:xfrm>
            <a:off x="7556655" y="421272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2026 preprint; reports Chinese-equity tests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0"/>
          <p:cNvSpPr/>
          <p:nvPr/>
        </p:nvSpPr>
        <p:spPr>
          <a:xfrm>
            <a:off x="685800" y="4826880"/>
            <a:ext cx="15174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Memory systems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1"/>
          <p:cNvSpPr/>
          <p:nvPr/>
        </p:nvSpPr>
        <p:spPr>
          <a:xfrm>
            <a:off x="2203201" y="4826880"/>
            <a:ext cx="2098776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Logic, trajectory or program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2"/>
          <p:cNvSpPr/>
          <p:nvPr/>
        </p:nvSpPr>
        <p:spPr>
          <a:xfrm>
            <a:off x="4301977" y="4826880"/>
            <a:ext cx="3254678" cy="56844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Repair, recombination and failure reuse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3"/>
          <p:cNvSpPr/>
          <p:nvPr/>
        </p:nvSpPr>
        <p:spPr>
          <a:xfrm>
            <a:off x="7556655" y="4826880"/>
            <a:ext cx="3964425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2026 preprints; useful design evidence, less mature publication status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4"/>
          <p:cNvSpPr/>
          <p:nvPr/>
        </p:nvSpPr>
        <p:spPr>
          <a:xfrm>
            <a:off x="685800" y="5532120"/>
            <a:ext cx="10835280" cy="50256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 strongest public evidence is still built mainly around equity-style data and complete factors, formulas, programs or research trajectories.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5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6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AlphaForge · AlphaAgent · R&amp;D-Agent(Q) · Alpha Jungle · AlphaPROBE · QuantaAlpha · FactorMiner · AlphaLogics · FactorEngine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Inspiration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15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621720" y="6693480"/>
            <a:ext cx="56516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509978" y="977760"/>
            <a:ext cx="10789560" cy="69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E4002B"/>
                </a:solidFill>
                <a:effectLst/>
                <a:uFillTx/>
                <a:latin typeface="Arial"/>
              </a:rPr>
              <a:t>In-silico drug discovery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550" b="0" u="none" strike="noStrike" dirty="0">
                <a:solidFill>
                  <a:srgbClr val="0B477D"/>
                </a:solidFill>
                <a:effectLst/>
                <a:uFillTx/>
                <a:latin typeface="Arial"/>
              </a:rPr>
              <a:t>Using computer simulations, artificial intelligence, and mathematical models to find, test, and design new medicines. </a:t>
            </a:r>
            <a:endParaRPr lang="en-US" sz="1550" b="0" u="none" strike="noStrike" dirty="0">
              <a:solidFill>
                <a:srgbClr val="0B477D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669F01-8B99-C47E-50D0-045E7AA2C292}"/>
              </a:ext>
            </a:extLst>
          </p:cNvPr>
          <p:cNvGrpSpPr/>
          <p:nvPr/>
        </p:nvGrpSpPr>
        <p:grpSpPr>
          <a:xfrm>
            <a:off x="709733" y="2280127"/>
            <a:ext cx="10719800" cy="1733642"/>
            <a:chOff x="777240" y="2280127"/>
            <a:chExt cx="10719800" cy="1733642"/>
          </a:xfrm>
        </p:grpSpPr>
        <p:sp>
          <p:nvSpPr>
            <p:cNvPr id="245" name="Text 7"/>
            <p:cNvSpPr/>
            <p:nvPr/>
          </p:nvSpPr>
          <p:spPr>
            <a:xfrm>
              <a:off x="777240" y="2280127"/>
              <a:ext cx="1874160" cy="1727488"/>
            </a:xfrm>
            <a:prstGeom prst="roundRect">
              <a:avLst>
                <a:gd name="adj" fmla="val 3902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Known compounds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Begin with smaller objects whose properties can be measured.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Shape 8"/>
            <p:cNvSpPr/>
            <p:nvPr/>
          </p:nvSpPr>
          <p:spPr>
            <a:xfrm>
              <a:off x="2639740" y="3143588"/>
              <a:ext cx="274320" cy="283"/>
            </a:xfrm>
            <a:prstGeom prst="line">
              <a:avLst/>
            </a:prstGeom>
            <a:ln w="1404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Text 9"/>
            <p:cNvSpPr/>
            <p:nvPr/>
          </p:nvSpPr>
          <p:spPr>
            <a:xfrm>
              <a:off x="2926080" y="2280127"/>
              <a:ext cx="2143010" cy="1727488"/>
            </a:xfrm>
            <a:prstGeom prst="roundRect">
              <a:avLst>
                <a:gd name="adj" fmla="val 3902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Modify or combine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Create new composite compounds rather than search for complete drugs from scratch.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Shape 10"/>
            <p:cNvSpPr/>
            <p:nvPr/>
          </p:nvSpPr>
          <p:spPr>
            <a:xfrm flipV="1">
              <a:off x="5050681" y="3143305"/>
              <a:ext cx="232174" cy="6578"/>
            </a:xfrm>
            <a:prstGeom prst="line">
              <a:avLst/>
            </a:prstGeom>
            <a:ln w="1404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Text 11"/>
            <p:cNvSpPr/>
            <p:nvPr/>
          </p:nvSpPr>
          <p:spPr>
            <a:xfrm>
              <a:off x="5276465" y="2280127"/>
              <a:ext cx="1977620" cy="1727488"/>
            </a:xfrm>
            <a:prstGeom prst="roundRect">
              <a:avLst>
                <a:gd name="adj" fmla="val 3902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Cheap screening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Use computational tests to reject many weak candidates quickly.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Shape 12"/>
            <p:cNvSpPr/>
            <p:nvPr/>
          </p:nvSpPr>
          <p:spPr>
            <a:xfrm>
              <a:off x="7244530" y="3143589"/>
              <a:ext cx="234780" cy="6578"/>
            </a:xfrm>
            <a:prstGeom prst="line">
              <a:avLst/>
            </a:prstGeom>
            <a:ln w="1404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Text 13"/>
            <p:cNvSpPr/>
            <p:nvPr/>
          </p:nvSpPr>
          <p:spPr>
            <a:xfrm>
              <a:off x="7486060" y="2280127"/>
              <a:ext cx="1874160" cy="1727488"/>
            </a:xfrm>
            <a:prstGeom prst="roundRect">
              <a:avLst>
                <a:gd name="adj" fmla="val 3902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Expensive testing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Send only a small subset to more costly evaluation.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Shape 14"/>
            <p:cNvSpPr/>
            <p:nvPr/>
          </p:nvSpPr>
          <p:spPr>
            <a:xfrm>
              <a:off x="9381350" y="3150024"/>
              <a:ext cx="241530" cy="141"/>
            </a:xfrm>
            <a:prstGeom prst="line">
              <a:avLst/>
            </a:prstGeom>
            <a:ln w="14040">
              <a:solidFill>
                <a:srgbClr val="005BA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Text 15"/>
            <p:cNvSpPr/>
            <p:nvPr/>
          </p:nvSpPr>
          <p:spPr>
            <a:xfrm>
              <a:off x="9622880" y="2286281"/>
              <a:ext cx="1874160" cy="1727488"/>
            </a:xfrm>
            <a:prstGeom prst="roundRect">
              <a:avLst>
                <a:gd name="adj" fmla="val 3902"/>
              </a:avLst>
            </a:prstGeom>
            <a:solidFill>
              <a:srgbClr val="FFE5EE"/>
            </a:solidFill>
            <a:ln w="0">
              <a:solidFill>
                <a:srgbClr val="FFC7D7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Knowledge accumulates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Record properties, useful interactions and failures for the next search.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4" name="Text 16"/>
          <p:cNvSpPr/>
          <p:nvPr/>
        </p:nvSpPr>
        <p:spPr>
          <a:xfrm>
            <a:off x="1097280" y="4754880"/>
            <a:ext cx="1001232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Knowledge accumulates at every stage: 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compound properties, successful combinations, failed combinations and changing conditions.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621720" y="6382440"/>
            <a:ext cx="10927080" cy="360"/>
          </a:xfrm>
          <a:prstGeom prst="line">
            <a:avLst/>
          </a:prstGeom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621720" y="6428160"/>
            <a:ext cx="10423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31648F"/>
                </a:solidFill>
                <a:effectLst/>
                <a:uFillTx/>
                <a:latin typeface="Arial"/>
              </a:rPr>
              <a:t>Methodological background: Nature Reviews Drug Discovery on virtual / in-silico screening · Ultra-Large Virtual Screening review, 2025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600" b="1" dirty="0">
                <a:solidFill>
                  <a:srgbClr val="003A70"/>
                </a:solidFill>
                <a:ea typeface="Arial"/>
              </a:rPr>
              <a:t>Inspiration</a:t>
            </a:r>
            <a:endParaRPr lang="en-US" sz="2600" dirty="0">
              <a:solidFill>
                <a:srgbClr val="000000"/>
              </a:solidFill>
            </a:endParaRPr>
          </a:p>
        </p:txBody>
      </p:sp>
      <p:sp>
        <p:nvSpPr>
          <p:cNvPr id="261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16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5"/>
          <p:cNvSpPr/>
          <p:nvPr/>
        </p:nvSpPr>
        <p:spPr>
          <a:xfrm>
            <a:off x="621720" y="6693480"/>
            <a:ext cx="60282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1577188" y="1079407"/>
            <a:ext cx="4062302" cy="1868932"/>
          </a:xfrm>
          <a:prstGeom prst="roundRect">
            <a:avLst>
              <a:gd name="adj" fmla="val 6667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World Quant research Paradigm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Shared data, standard functions, repeatable tests and scaled research participation.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7"/>
          <p:cNvSpPr/>
          <p:nvPr/>
        </p:nvSpPr>
        <p:spPr>
          <a:xfrm>
            <a:off x="5728141" y="1079406"/>
            <a:ext cx="3827032" cy="1870380"/>
          </a:xfrm>
          <a:prstGeom prst="roundRect">
            <a:avLst>
              <a:gd name="adj" fmla="val 6667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LLM research agents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Hypothesis formation, coding assistance, feedback interpretation and research memory.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1577187" y="3082266"/>
            <a:ext cx="7977985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In-silico discovery methodology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Recursive compounds, staged screening, evidence accumulation and distillation.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5639490" y="4133466"/>
            <a:ext cx="0" cy="667134"/>
          </a:xfrm>
          <a:prstGeom prst="line">
            <a:avLst/>
          </a:prstGeom>
          <a:ln w="5715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2"/>
          <p:cNvSpPr/>
          <p:nvPr/>
        </p:nvSpPr>
        <p:spPr>
          <a:xfrm>
            <a:off x="2985121" y="4800600"/>
            <a:ext cx="5486040" cy="868320"/>
          </a:xfrm>
          <a:prstGeom prst="roundRect">
            <a:avLst>
              <a:gd name="adj" fmla="val 8421"/>
            </a:avLst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Our proposed research process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Alpha Compound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17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5"/>
          <p:cNvSpPr/>
          <p:nvPr/>
        </p:nvSpPr>
        <p:spPr>
          <a:xfrm>
            <a:off x="621720" y="6693480"/>
            <a:ext cx="64051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8ECF4A-6059-4BDB-D8D9-4A26EC34B9FF}"/>
              </a:ext>
            </a:extLst>
          </p:cNvPr>
          <p:cNvGrpSpPr/>
          <p:nvPr/>
        </p:nvGrpSpPr>
        <p:grpSpPr>
          <a:xfrm>
            <a:off x="888934" y="1076746"/>
            <a:ext cx="10266746" cy="4181738"/>
            <a:chOff x="594360" y="1070609"/>
            <a:chExt cx="10266746" cy="4181738"/>
          </a:xfrm>
        </p:grpSpPr>
        <p:sp>
          <p:nvSpPr>
            <p:cNvPr id="276" name="Text 6"/>
            <p:cNvSpPr/>
            <p:nvPr/>
          </p:nvSpPr>
          <p:spPr>
            <a:xfrm>
              <a:off x="594361" y="1070609"/>
              <a:ext cx="10266745" cy="1093730"/>
            </a:xfrm>
            <a:prstGeom prst="roundRect">
              <a:avLst>
                <a:gd name="adj" fmla="val 10256"/>
              </a:avLst>
            </a:prstGeom>
            <a:solidFill>
              <a:srgbClr val="EAF6FF"/>
            </a:solidFill>
            <a:ln w="0">
              <a:solidFill>
                <a:srgbClr val="CFEA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 fontScale="92500"/>
            </a:bodyPr>
            <a:lstStyle/>
            <a:p>
              <a:pPr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0B477D"/>
                  </a:solidFill>
                  <a:effectLst/>
                  <a:uFillTx/>
                  <a:ea typeface="Arial"/>
                </a:rPr>
                <a:t>Alpha Compound </a:t>
              </a:r>
            </a:p>
            <a:p>
              <a:pPr>
                <a:tabLst>
                  <a:tab pos="0" algn="l"/>
                </a:tabLst>
              </a:pPr>
              <a:r>
                <a:rPr lang="en-US" sz="1500" u="none" strike="noStrike" dirty="0">
                  <a:solidFill>
                    <a:srgbClr val="0B477D"/>
                  </a:solidFill>
                  <a:effectLst/>
                  <a:uFillTx/>
                  <a:ea typeface="Arial"/>
                </a:rPr>
                <a:t>Like chemical compounds, alpha compound is a reusable piece of knowledge that can contribute to constructing alpha signals.</a:t>
              </a:r>
              <a:r>
                <a:rPr lang="en-GB" sz="1500" u="none" strike="noStrike" dirty="0">
                  <a:solidFill>
                    <a:srgbClr val="0B477D"/>
                  </a:solidFill>
                  <a:effectLst/>
                  <a:uFillTx/>
                  <a:ea typeface="Arial"/>
                </a:rPr>
                <a:t> </a:t>
              </a:r>
            </a:p>
            <a:p>
              <a:pPr>
                <a:tabLst>
                  <a:tab pos="0" algn="l"/>
                </a:tabLst>
              </a:pPr>
              <a:r>
                <a:rPr lang="en-GB" sz="1500" u="none" strike="noStrike" dirty="0">
                  <a:solidFill>
                    <a:srgbClr val="0B477D"/>
                  </a:solidFill>
                  <a:effectLst/>
                  <a:uFillTx/>
                  <a:ea typeface="Arial"/>
                </a:rPr>
                <a:t>It may be a formula, function, transformation or composite.</a:t>
              </a:r>
              <a:r>
                <a:rPr lang="en-US" sz="1500" dirty="0">
                  <a:solidFill>
                    <a:srgbClr val="0B477D"/>
                  </a:solidFill>
                  <a:ea typeface="Arial"/>
                </a:rPr>
                <a:t> </a:t>
              </a:r>
            </a:p>
            <a:p>
              <a:pPr>
                <a:tabLst>
                  <a:tab pos="0" algn="l"/>
                </a:tabLst>
              </a:pPr>
              <a:r>
                <a:rPr lang="en-GB" sz="1500" u="none" strike="noStrike" dirty="0">
                  <a:solidFill>
                    <a:srgbClr val="0B477D"/>
                  </a:solidFill>
                  <a:effectLst/>
                  <a:uFillTx/>
                  <a:ea typeface="Arial"/>
                </a:rPr>
                <a:t>The knowledge can </a:t>
              </a:r>
              <a:r>
                <a:rPr lang="en-GB" sz="1500" dirty="0">
                  <a:solidFill>
                    <a:srgbClr val="0B477D"/>
                  </a:solidFill>
                  <a:ea typeface="Arial"/>
                </a:rPr>
                <a:t>be tested, recorded and </a:t>
              </a:r>
              <a:r>
                <a:rPr lang="en-GB" sz="1500" u="none" strike="noStrike" dirty="0">
                  <a:solidFill>
                    <a:srgbClr val="0B477D"/>
                  </a:solidFill>
                  <a:effectLst/>
                  <a:uFillTx/>
                  <a:ea typeface="Arial"/>
                </a:rPr>
                <a:t>reuse. </a:t>
              </a:r>
              <a:endParaRPr lang="en-GB" sz="1500" dirty="0">
                <a:solidFill>
                  <a:srgbClr val="0B477D"/>
                </a:solidFill>
                <a:ea typeface="Arial"/>
              </a:endParaRPr>
            </a:p>
          </p:txBody>
        </p:sp>
        <p:sp>
          <p:nvSpPr>
            <p:cNvPr id="277" name="Text 7"/>
            <p:cNvSpPr/>
            <p:nvPr/>
          </p:nvSpPr>
          <p:spPr>
            <a:xfrm>
              <a:off x="594360" y="4018267"/>
              <a:ext cx="2047997" cy="123408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512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r>
                <a:rPr lang="en-US" sz="1450" b="1" u="none" strike="noStrike" dirty="0">
                  <a:solidFill>
                    <a:srgbClr val="003A70"/>
                  </a:solidFill>
                  <a:effectLst/>
                  <a:uFillTx/>
                  <a:latin typeface="Arial"/>
                  <a:ea typeface="Arial"/>
                </a:rPr>
                <a:t>Predictor</a:t>
              </a:r>
              <a:endParaRPr lang="en-US" sz="14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Contributes directional prediction on its own.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Text 8"/>
            <p:cNvSpPr/>
            <p:nvPr/>
          </p:nvSpPr>
          <p:spPr>
            <a:xfrm>
              <a:off x="3094481" y="4018267"/>
              <a:ext cx="2364449" cy="123408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512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r>
                <a:rPr lang="en-US" sz="1450" b="1" u="none" strike="noStrike" dirty="0">
                  <a:solidFill>
                    <a:srgbClr val="003A70"/>
                  </a:solidFill>
                  <a:effectLst/>
                  <a:uFillTx/>
                  <a:latin typeface="Arial"/>
                  <a:ea typeface="Arial"/>
                </a:rPr>
                <a:t>Amplifier</a:t>
              </a:r>
              <a:endParaRPr lang="en-US" sz="14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Strengthens another compound's predictive effect.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Text 9"/>
            <p:cNvSpPr/>
            <p:nvPr/>
          </p:nvSpPr>
          <p:spPr>
            <a:xfrm>
              <a:off x="5953794" y="4018267"/>
              <a:ext cx="2047997" cy="123408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512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r>
                <a:rPr lang="en-US" sz="1450" b="1" u="none" strike="noStrike" dirty="0">
                  <a:solidFill>
                    <a:srgbClr val="003A70"/>
                  </a:solidFill>
                  <a:effectLst/>
                  <a:uFillTx/>
                  <a:latin typeface="Arial"/>
                  <a:ea typeface="Arial"/>
                </a:rPr>
                <a:t>Conditioner</a:t>
              </a:r>
              <a:endParaRPr lang="en-US" sz="14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B477D"/>
                  </a:solidFill>
                  <a:effectLst/>
                  <a:uFillTx/>
                  <a:latin typeface="Arial"/>
                  <a:ea typeface="Arial"/>
                </a:rPr>
                <a:t>Identifies when another compound is useful.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Text 10"/>
            <p:cNvSpPr/>
            <p:nvPr/>
          </p:nvSpPr>
          <p:spPr>
            <a:xfrm>
              <a:off x="8496656" y="4018267"/>
              <a:ext cx="2364449" cy="123408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5120">
              <a:solidFill>
                <a:srgbClr val="9BCF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18800" tIns="64080" rIns="118800" bIns="64080" anchor="ctr">
              <a:normAutofit/>
            </a:bodyPr>
            <a:lstStyle/>
            <a:p>
              <a:r>
                <a:rPr lang="en-US" sz="1450" b="1" u="none" strike="noStrike" dirty="0">
                  <a:solidFill>
                    <a:srgbClr val="003A70"/>
                  </a:solidFill>
                  <a:effectLst/>
                  <a:uFillTx/>
                  <a:latin typeface="Arial"/>
                  <a:ea typeface="Arial"/>
                </a:rPr>
                <a:t>Cross terms</a:t>
              </a:r>
              <a:endParaRPr lang="en-US" sz="14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rPr>
                <a:t>Capturing non-linear relationships</a:t>
              </a:r>
            </a:p>
          </p:txBody>
        </p:sp>
      </p:grpSp>
      <p:sp>
        <p:nvSpPr>
          <p:cNvPr id="282" name="Text 12"/>
          <p:cNvSpPr/>
          <p:nvPr/>
        </p:nvSpPr>
        <p:spPr>
          <a:xfrm>
            <a:off x="888934" y="2326103"/>
            <a:ext cx="10266745" cy="123408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Function and Operators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ea typeface="Arial"/>
              </a:rPr>
              <a:t>Functions of a particular construction such as rank, lag, multiply, condition or compare</a:t>
            </a:r>
            <a:r>
              <a:rPr lang="en-US" sz="1400" dirty="0">
                <a:solidFill>
                  <a:srgbClr val="0B477D"/>
                </a:solidFill>
                <a:ea typeface="Arial"/>
              </a:rPr>
              <a:t> is part of alpha compound. </a:t>
            </a:r>
            <a:endParaRPr lang="en-US" sz="1400" b="0" u="none" strike="noStrike" dirty="0">
              <a:solidFill>
                <a:srgbClr val="0B477D"/>
              </a:solidFill>
              <a:effectLst/>
              <a:uFillTx/>
              <a:ea typeface="Arial"/>
            </a:endParaRPr>
          </a:p>
          <a:p>
            <a:pPr>
              <a:tabLst>
                <a:tab pos="0" algn="l"/>
              </a:tabLst>
            </a:pPr>
            <a:r>
              <a:rPr lang="en-US" sz="1400" dirty="0">
                <a:solidFill>
                  <a:srgbClr val="0B477D"/>
                </a:solidFill>
                <a:ea typeface="Arial"/>
              </a:rPr>
              <a:t>They can be used to combine simple predictive compounds together to form composites.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ea typeface="Arial"/>
              </a:rPr>
              <a:t>If its utility becomes reusable evidence, it may itself be retained as a compound.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Compound distillation and recursive discovery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18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5"/>
          <p:cNvSpPr/>
          <p:nvPr/>
        </p:nvSpPr>
        <p:spPr>
          <a:xfrm>
            <a:off x="621720" y="6693480"/>
            <a:ext cx="67820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1013560" y="1359924"/>
            <a:ext cx="329358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Alpha sources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published alphas · human-designed alphas · Alpha Bank · newly discovered alphas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4627538" y="1359924"/>
            <a:ext cx="3209300" cy="91404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Compound distillation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identify reusable pieces of knowledge that explain what worked, failed or changed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8256655" y="1359924"/>
            <a:ext cx="2562723" cy="91404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Compound Library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properties, interactions, conditions and negative evidence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8082314" y="2897424"/>
            <a:ext cx="2737064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Select, transform and recombine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use the Library to propose new composite compounds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0"/>
          <p:cNvSpPr/>
          <p:nvPr/>
        </p:nvSpPr>
        <p:spPr>
          <a:xfrm>
            <a:off x="5099774" y="2907663"/>
            <a:ext cx="2179470" cy="776880"/>
          </a:xfrm>
          <a:prstGeom prst="roundRect">
            <a:avLst>
              <a:gd name="adj" fmla="val 9412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New alpha candidate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1392644" y="2870404"/>
            <a:ext cx="2535412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Test, trade and observe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performance creates new evidence for the next distillation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2"/>
          <p:cNvSpPr/>
          <p:nvPr/>
        </p:nvSpPr>
        <p:spPr>
          <a:xfrm>
            <a:off x="4307499" y="1817124"/>
            <a:ext cx="32004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3"/>
          <p:cNvSpPr/>
          <p:nvPr/>
        </p:nvSpPr>
        <p:spPr>
          <a:xfrm flipV="1">
            <a:off x="7836838" y="1817124"/>
            <a:ext cx="419817" cy="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4"/>
          <p:cNvSpPr/>
          <p:nvPr/>
        </p:nvSpPr>
        <p:spPr>
          <a:xfrm>
            <a:off x="9550291" y="2288239"/>
            <a:ext cx="6136" cy="59491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5"/>
          <p:cNvSpPr/>
          <p:nvPr/>
        </p:nvSpPr>
        <p:spPr>
          <a:xfrm flipH="1">
            <a:off x="7279242" y="3327424"/>
            <a:ext cx="803071" cy="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6"/>
          <p:cNvSpPr/>
          <p:nvPr/>
        </p:nvSpPr>
        <p:spPr>
          <a:xfrm flipH="1">
            <a:off x="3928054" y="3327424"/>
            <a:ext cx="1171720" cy="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/>
          </a:p>
        </p:txBody>
      </p:sp>
      <p:sp>
        <p:nvSpPr>
          <p:cNvPr id="300" name="Shape 17"/>
          <p:cNvSpPr/>
          <p:nvPr/>
        </p:nvSpPr>
        <p:spPr>
          <a:xfrm flipH="1" flipV="1">
            <a:off x="2649302" y="2312753"/>
            <a:ext cx="5524" cy="537344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8"/>
          <p:cNvSpPr/>
          <p:nvPr/>
        </p:nvSpPr>
        <p:spPr>
          <a:xfrm>
            <a:off x="1097280" y="4488604"/>
            <a:ext cx="9966600" cy="9590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0">
            <a:solidFill>
              <a:srgbClr val="9BCF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 cycle can start from our own research, existing human alphas or external published ideas. 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Every evaluated alpha can be distilled back into compound-level knowledge.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 more controlled route to non-linearity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19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5"/>
          <p:cNvSpPr/>
          <p:nvPr/>
        </p:nvSpPr>
        <p:spPr>
          <a:xfrm>
            <a:off x="621720" y="6693480"/>
            <a:ext cx="71586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822960" y="1325880"/>
            <a:ext cx="5257440" cy="3245760"/>
          </a:xfrm>
          <a:prstGeom prst="roundRect">
            <a:avLst>
              <a:gd name="adj" fmla="val 2254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Structural control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Start with small, verifiable pieces of knowledge.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Build more complex alpha structures progressively.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Test the contribution of each compound and interaction.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Limit recursive depth, permitted transformations and free parameters.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6263640" y="1325880"/>
            <a:ext cx="5074560" cy="3245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Statistical control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Separate fitting, validation and test samples.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Keep a reserved sample away from the discovery loop.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Use forward testing on newly arriving data.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Count every candidate and every observed result.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1097280" y="4833732"/>
            <a:ext cx="9966600" cy="1327728"/>
          </a:xfrm>
          <a:prstGeom prst="roundRect">
            <a:avLst>
              <a:gd name="adj" fmla="val 10667"/>
            </a:avLst>
          </a:prstGeom>
          <a:solidFill>
            <a:srgbClr val="FFE5EE"/>
          </a:solidFill>
          <a:ln w="0">
            <a:solidFill>
              <a:srgbClr val="FFC7D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Small equations cannot completely avoid overfitting risk. </a:t>
            </a: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Testing one million simple alternatives on the same data can overfit just as badly as training one large neural network. </a:t>
            </a: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Reliability requires both constrained structure and disciplined data separation.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The Compound Library and the Alpha Bank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20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5"/>
          <p:cNvSpPr/>
          <p:nvPr/>
        </p:nvSpPr>
        <p:spPr>
          <a:xfrm>
            <a:off x="621720" y="6693480"/>
            <a:ext cx="75355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6"/>
          <p:cNvSpPr/>
          <p:nvPr/>
        </p:nvSpPr>
        <p:spPr>
          <a:xfrm>
            <a:off x="822960" y="1280160"/>
            <a:ext cx="4297320" cy="3337200"/>
          </a:xfrm>
          <a:prstGeom prst="roundRect">
            <a:avLst>
              <a:gd name="adj" fmla="val 2192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Compound Library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Longer-term institutional research knowledge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simple and composite compounds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properties, interactions and conditions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negative evidence and contradictions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construction and distillation lineage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knowledge used to create or revive alphas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7086600" y="1280160"/>
            <a:ext cx="4297320" cy="33372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Alpha Bank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Institutional trading knowledge and deployable assets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qualified signals for shadow or production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portfolio contribution and correlations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capacity, implementation and P&amp;L evidence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decay, retirement and revival history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a source of new compound-level knowledge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8"/>
          <p:cNvSpPr/>
          <p:nvPr/>
        </p:nvSpPr>
        <p:spPr>
          <a:xfrm>
            <a:off x="5120640" y="2331720"/>
            <a:ext cx="196596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5212080" y="2103120"/>
            <a:ext cx="1737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5BAC"/>
                </a:solidFill>
                <a:effectLst/>
                <a:uFillTx/>
                <a:latin typeface="Arial"/>
              </a:rPr>
              <a:t>construct and qualify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0"/>
          <p:cNvSpPr/>
          <p:nvPr/>
        </p:nvSpPr>
        <p:spPr>
          <a:xfrm flipH="1">
            <a:off x="5120640" y="3611880"/>
            <a:ext cx="1965960" cy="360"/>
          </a:xfrm>
          <a:prstGeom prst="line">
            <a:avLst/>
          </a:prstGeom>
          <a:ln w="2016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1"/>
          <p:cNvSpPr/>
          <p:nvPr/>
        </p:nvSpPr>
        <p:spPr>
          <a:xfrm>
            <a:off x="5212080" y="3429000"/>
            <a:ext cx="1737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5BAC"/>
                </a:solidFill>
                <a:effectLst/>
                <a:uFillTx/>
                <a:latin typeface="Arial"/>
              </a:rPr>
              <a:t>distil evidence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2"/>
          <p:cNvSpPr/>
          <p:nvPr/>
        </p:nvSpPr>
        <p:spPr>
          <a:xfrm>
            <a:off x="871442" y="4891320"/>
            <a:ext cx="10512478" cy="114336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rgbClr val="0B477D"/>
                </a:solidFill>
                <a:ea typeface="Arial"/>
              </a:rPr>
              <a:t>Alphas come and go, while compounds can preserve why signals work, fail or return.</a:t>
            </a:r>
            <a:r>
              <a:rPr lang="en-US" sz="1400" dirty="0">
                <a:solidFill>
                  <a:srgbClr val="000000"/>
                </a:solidFill>
              </a:rPr>
              <a:t> They </a:t>
            </a: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both are institutional value.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 Alpha Bank help traders generating P&amp;L</a:t>
            </a:r>
            <a:r>
              <a:rPr lang="en-US" sz="1400" dirty="0">
                <a:solidFill>
                  <a:srgbClr val="0B477D"/>
                </a:solidFill>
                <a:latin typeface="Arial"/>
                <a:ea typeface="Arial"/>
              </a:rPr>
              <a:t>, while t</a:t>
            </a: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he Compound Library capture deeper and structural</a:t>
            </a:r>
            <a:r>
              <a:rPr lang="en-US" sz="1400" dirty="0">
                <a:solidFill>
                  <a:srgbClr val="0B477D"/>
                </a:solidFill>
                <a:latin typeface="Arial"/>
                <a:ea typeface="Arial"/>
              </a:rPr>
              <a:t> institutional knowledge.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600" y="36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How one research campaign runs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21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5"/>
          <p:cNvSpPr/>
          <p:nvPr/>
        </p:nvSpPr>
        <p:spPr>
          <a:xfrm>
            <a:off x="621720" y="6693480"/>
            <a:ext cx="79124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929592" y="1250145"/>
            <a:ext cx="2194200" cy="731160"/>
          </a:xfrm>
          <a:prstGeom prst="roundRect">
            <a:avLst>
              <a:gd name="adj" fmla="val 10000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Human </a:t>
            </a:r>
            <a:r>
              <a:rPr lang="en-US" sz="1200" b="1" dirty="0">
                <a:solidFill>
                  <a:srgbClr val="0B477D"/>
                </a:solidFill>
                <a:ea typeface="Arial"/>
              </a:rPr>
              <a:t>prompts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Trader observations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Research priorities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929592" y="2177251"/>
            <a:ext cx="2227320" cy="880573"/>
          </a:xfrm>
          <a:prstGeom prst="roundRect">
            <a:avLst>
              <a:gd name="adj" fmla="val 10000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Compound Library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Research </a:t>
            </a:r>
            <a:r>
              <a:rPr lang="en-US" sz="1200" dirty="0">
                <a:solidFill>
                  <a:srgbClr val="0B477D"/>
                </a:solidFill>
                <a:latin typeface="Arial"/>
                <a:ea typeface="Arial"/>
              </a:rPr>
              <a:t>knowledge base 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8"/>
          <p:cNvSpPr/>
          <p:nvPr/>
        </p:nvSpPr>
        <p:spPr>
          <a:xfrm>
            <a:off x="962892" y="3231704"/>
            <a:ext cx="219420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Alpha Bank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05BAC"/>
                </a:solidFill>
                <a:effectLst/>
                <a:uFillTx/>
                <a:latin typeface="Arial"/>
              </a:rPr>
              <a:t>Tested alpha thesis and performances</a:t>
            </a:r>
          </a:p>
        </p:txBody>
      </p:sp>
      <p:sp>
        <p:nvSpPr>
          <p:cNvPr id="333" name="Text 9"/>
          <p:cNvSpPr/>
          <p:nvPr/>
        </p:nvSpPr>
        <p:spPr>
          <a:xfrm>
            <a:off x="3906252" y="2287089"/>
            <a:ext cx="1554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Signal idea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generation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5838216" y="2991045"/>
            <a:ext cx="150840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Thesis, target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horizon and data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5"/>
          <p:cNvSpPr/>
          <p:nvPr/>
        </p:nvSpPr>
        <p:spPr>
          <a:xfrm>
            <a:off x="8033432" y="2987287"/>
            <a:ext cx="1965734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Implementation Agent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6"/>
          <p:cNvSpPr/>
          <p:nvPr/>
        </p:nvSpPr>
        <p:spPr>
          <a:xfrm>
            <a:off x="9428352" y="4126008"/>
            <a:ext cx="150840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 err="1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Backtest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7"/>
          <p:cNvSpPr/>
          <p:nvPr/>
        </p:nvSpPr>
        <p:spPr>
          <a:xfrm>
            <a:off x="6269140" y="4135515"/>
            <a:ext cx="2335106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Evidence and Conclusion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8"/>
          <p:cNvSpPr/>
          <p:nvPr/>
        </p:nvSpPr>
        <p:spPr>
          <a:xfrm>
            <a:off x="3357027" y="4130505"/>
            <a:ext cx="2447371" cy="639720"/>
          </a:xfrm>
          <a:prstGeom prst="roundRect">
            <a:avLst>
              <a:gd name="adj" fmla="val 11429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Update institutional knowledge</a:t>
            </a:r>
            <a:endParaRPr lang="en-US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9"/>
          <p:cNvSpPr/>
          <p:nvPr/>
        </p:nvSpPr>
        <p:spPr>
          <a:xfrm>
            <a:off x="621720" y="5349240"/>
            <a:ext cx="11127960" cy="720056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Agents raise questions when data, API or implementation details are unclear.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B477D"/>
                </a:solidFill>
                <a:latin typeface="Arial"/>
                <a:ea typeface="Arial"/>
              </a:rPr>
              <a:t>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he acquired knowledge is added to implementation memory. 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4D3157C-6632-8DB2-D40D-5F6C66C8C14B}"/>
              </a:ext>
            </a:extLst>
          </p:cNvPr>
          <p:cNvCxnSpPr>
            <a:cxnSpLocks/>
            <a:stCxn id="330" idx="3"/>
            <a:endCxn id="333" idx="0"/>
          </p:cNvCxnSpPr>
          <p:nvPr/>
        </p:nvCxnSpPr>
        <p:spPr>
          <a:xfrm>
            <a:off x="3123792" y="1615725"/>
            <a:ext cx="1559520" cy="671364"/>
          </a:xfrm>
          <a:prstGeom prst="bentConnector2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C8C35E-7CC2-C11C-5923-EE9D85121973}"/>
              </a:ext>
            </a:extLst>
          </p:cNvPr>
          <p:cNvCxnSpPr>
            <a:cxnSpLocks/>
            <a:stCxn id="331" idx="3"/>
            <a:endCxn id="333" idx="1"/>
          </p:cNvCxnSpPr>
          <p:nvPr/>
        </p:nvCxnSpPr>
        <p:spPr>
          <a:xfrm flipV="1">
            <a:off x="3156912" y="2606949"/>
            <a:ext cx="749340" cy="10589"/>
          </a:xfrm>
          <a:prstGeom prst="straightConnector1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4BBCC8D-D488-4EB0-F223-73FB1F6925D9}"/>
              </a:ext>
            </a:extLst>
          </p:cNvPr>
          <p:cNvCxnSpPr>
            <a:cxnSpLocks/>
            <a:stCxn id="332" idx="3"/>
            <a:endCxn id="333" idx="2"/>
          </p:cNvCxnSpPr>
          <p:nvPr/>
        </p:nvCxnSpPr>
        <p:spPr>
          <a:xfrm flipV="1">
            <a:off x="3157092" y="2926809"/>
            <a:ext cx="1526220" cy="670475"/>
          </a:xfrm>
          <a:prstGeom prst="bentConnector2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8C6C1B9-4700-59C3-BCFE-738220D92559}"/>
              </a:ext>
            </a:extLst>
          </p:cNvPr>
          <p:cNvCxnSpPr>
            <a:cxnSpLocks/>
            <a:stCxn id="342" idx="1"/>
            <a:endCxn id="332" idx="2"/>
          </p:cNvCxnSpPr>
          <p:nvPr/>
        </p:nvCxnSpPr>
        <p:spPr>
          <a:xfrm rot="10800000">
            <a:off x="2059993" y="3962865"/>
            <a:ext cx="1297035" cy="487501"/>
          </a:xfrm>
          <a:prstGeom prst="bentConnector2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C12A682-57AF-5686-D97F-430B23B4A351}"/>
              </a:ext>
            </a:extLst>
          </p:cNvPr>
          <p:cNvCxnSpPr>
            <a:cxnSpLocks/>
            <a:stCxn id="342" idx="2"/>
            <a:endCxn id="331" idx="1"/>
          </p:cNvCxnSpPr>
          <p:nvPr/>
        </p:nvCxnSpPr>
        <p:spPr>
          <a:xfrm rot="5400000" flipH="1">
            <a:off x="1678809" y="1868322"/>
            <a:ext cx="2152687" cy="3651121"/>
          </a:xfrm>
          <a:prstGeom prst="bentConnector4">
            <a:avLst>
              <a:gd name="adj1" fmla="val -10619"/>
              <a:gd name="adj2" fmla="val 106261"/>
            </a:avLst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B6BB7B1-406D-1A81-7753-4CE4C4366969}"/>
              </a:ext>
            </a:extLst>
          </p:cNvPr>
          <p:cNvCxnSpPr>
            <a:cxnSpLocks/>
            <a:stCxn id="341" idx="1"/>
            <a:endCxn id="342" idx="3"/>
          </p:cNvCxnSpPr>
          <p:nvPr/>
        </p:nvCxnSpPr>
        <p:spPr>
          <a:xfrm flipH="1" flipV="1">
            <a:off x="5804398" y="4450365"/>
            <a:ext cx="464742" cy="5010"/>
          </a:xfrm>
          <a:prstGeom prst="straightConnector1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A5C49A-2A12-1621-65DC-49A38641D1E4}"/>
              </a:ext>
            </a:extLst>
          </p:cNvPr>
          <p:cNvCxnSpPr>
            <a:cxnSpLocks/>
            <a:stCxn id="340" idx="1"/>
            <a:endCxn id="341" idx="3"/>
          </p:cNvCxnSpPr>
          <p:nvPr/>
        </p:nvCxnSpPr>
        <p:spPr>
          <a:xfrm flipH="1">
            <a:off x="8604246" y="4445868"/>
            <a:ext cx="824106" cy="9507"/>
          </a:xfrm>
          <a:prstGeom prst="straightConnector1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8671EAFF-1795-61BC-AD4B-3ABAC07C6BF3}"/>
              </a:ext>
            </a:extLst>
          </p:cNvPr>
          <p:cNvCxnSpPr>
            <a:cxnSpLocks/>
            <a:stCxn id="337" idx="3"/>
            <a:endCxn id="339" idx="1"/>
          </p:cNvCxnSpPr>
          <p:nvPr/>
        </p:nvCxnSpPr>
        <p:spPr>
          <a:xfrm flipV="1">
            <a:off x="7346616" y="3307147"/>
            <a:ext cx="686816" cy="3758"/>
          </a:xfrm>
          <a:prstGeom prst="straightConnector1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Text 6">
            <a:extLst>
              <a:ext uri="{FF2B5EF4-FFF2-40B4-BE49-F238E27FC236}">
                <a16:creationId xmlns:a16="http://schemas.microsoft.com/office/drawing/2014/main" id="{223230F5-FD5B-A7C4-10AA-FF31E23E8A97}"/>
              </a:ext>
            </a:extLst>
          </p:cNvPr>
          <p:cNvSpPr/>
          <p:nvPr/>
        </p:nvSpPr>
        <p:spPr>
          <a:xfrm>
            <a:off x="9392652" y="1273228"/>
            <a:ext cx="2194200" cy="731160"/>
          </a:xfrm>
          <a:prstGeom prst="roundRect">
            <a:avLst>
              <a:gd name="adj" fmla="val 10000"/>
            </a:avLst>
          </a:prstGeom>
          <a:solidFill>
            <a:srgbClr val="FFE5EE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05BAC"/>
                </a:solidFill>
                <a:effectLst/>
                <a:uFillTx/>
                <a:latin typeface="Arial"/>
                <a:ea typeface="Arial"/>
              </a:rPr>
              <a:t>Human </a:t>
            </a:r>
            <a:r>
              <a:rPr lang="en-US" sz="1200" b="1" dirty="0">
                <a:solidFill>
                  <a:srgbClr val="005BAC"/>
                </a:solidFill>
                <a:ea typeface="Arial"/>
              </a:rPr>
              <a:t>Answers</a:t>
            </a:r>
            <a:endParaRPr lang="en-US" sz="1200" b="1" u="none" strike="noStrike" dirty="0">
              <a:solidFill>
                <a:srgbClr val="005BAC"/>
              </a:solidFill>
              <a:effectLst/>
              <a:uFillTx/>
              <a:latin typeface="Arial"/>
            </a:endParaRPr>
          </a:p>
          <a:p>
            <a:pPr algn="ctr">
              <a:tabLst>
                <a:tab pos="0" algn="l"/>
              </a:tabLst>
            </a:pPr>
            <a:r>
              <a:rPr lang="en-US" sz="1200" u="none" strike="noStrike" dirty="0">
                <a:solidFill>
                  <a:srgbClr val="005BAC"/>
                </a:solidFill>
                <a:effectLst/>
                <a:uFillTx/>
                <a:latin typeface="Arial"/>
              </a:rPr>
              <a:t>Java</a:t>
            </a:r>
            <a:r>
              <a:rPr lang="en-US" sz="1200" dirty="0">
                <a:solidFill>
                  <a:srgbClr val="005BAC"/>
                </a:solidFill>
              </a:rPr>
              <a:t>, Q, Database</a:t>
            </a:r>
            <a:endParaRPr lang="en-US" sz="1200" u="none" strike="noStrike" dirty="0">
              <a:solidFill>
                <a:srgbClr val="005BAC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7">
            <a:extLst>
              <a:ext uri="{FF2B5EF4-FFF2-40B4-BE49-F238E27FC236}">
                <a16:creationId xmlns:a16="http://schemas.microsoft.com/office/drawing/2014/main" id="{8DB70665-F9E2-F46A-6685-351CB2A99F2C}"/>
              </a:ext>
            </a:extLst>
          </p:cNvPr>
          <p:cNvSpPr/>
          <p:nvPr/>
        </p:nvSpPr>
        <p:spPr>
          <a:xfrm>
            <a:off x="6242100" y="1323621"/>
            <a:ext cx="1621380" cy="639720"/>
          </a:xfrm>
          <a:prstGeom prst="roundRect">
            <a:avLst>
              <a:gd name="adj" fmla="val 10000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1200" dirty="0">
                <a:solidFill>
                  <a:srgbClr val="0B477D"/>
                </a:solidFill>
                <a:ea typeface="Arial"/>
              </a:rPr>
              <a:t>Implementation Knowledge base</a:t>
            </a:r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428" name="Connector: Elbow 427">
            <a:extLst>
              <a:ext uri="{FF2B5EF4-FFF2-40B4-BE49-F238E27FC236}">
                <a16:creationId xmlns:a16="http://schemas.microsoft.com/office/drawing/2014/main" id="{163CBAD3-DA16-0F48-7514-41934CF846C0}"/>
              </a:ext>
            </a:extLst>
          </p:cNvPr>
          <p:cNvCxnSpPr>
            <a:cxnSpLocks/>
            <a:stCxn id="427" idx="2"/>
            <a:endCxn id="339" idx="0"/>
          </p:cNvCxnSpPr>
          <p:nvPr/>
        </p:nvCxnSpPr>
        <p:spPr>
          <a:xfrm rot="16200000" flipH="1">
            <a:off x="7522571" y="1493559"/>
            <a:ext cx="1023946" cy="1963509"/>
          </a:xfrm>
          <a:prstGeom prst="bentConnector3">
            <a:avLst>
              <a:gd name="adj1" fmla="val 50000"/>
            </a:avLst>
          </a:prstGeom>
          <a:ln w="12700">
            <a:solidFill>
              <a:srgbClr val="005BAC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: Elbow 439">
            <a:extLst>
              <a:ext uri="{FF2B5EF4-FFF2-40B4-BE49-F238E27FC236}">
                <a16:creationId xmlns:a16="http://schemas.microsoft.com/office/drawing/2014/main" id="{199933AF-7E95-7328-EFE3-13937348029A}"/>
              </a:ext>
            </a:extLst>
          </p:cNvPr>
          <p:cNvCxnSpPr>
            <a:cxnSpLocks/>
            <a:stCxn id="406" idx="2"/>
            <a:endCxn id="339" idx="3"/>
          </p:cNvCxnSpPr>
          <p:nvPr/>
        </p:nvCxnSpPr>
        <p:spPr>
          <a:xfrm rot="5400000">
            <a:off x="9593080" y="2410474"/>
            <a:ext cx="1302759" cy="490586"/>
          </a:xfrm>
          <a:prstGeom prst="bentConnector2">
            <a:avLst/>
          </a:prstGeom>
          <a:ln w="12700">
            <a:solidFill>
              <a:srgbClr val="005BAC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: Elbow 445">
            <a:extLst>
              <a:ext uri="{FF2B5EF4-FFF2-40B4-BE49-F238E27FC236}">
                <a16:creationId xmlns:a16="http://schemas.microsoft.com/office/drawing/2014/main" id="{EB1C5B61-EDEF-F244-E5A3-CCF0144696A6}"/>
              </a:ext>
            </a:extLst>
          </p:cNvPr>
          <p:cNvCxnSpPr>
            <a:cxnSpLocks/>
            <a:stCxn id="339" idx="2"/>
            <a:endCxn id="340" idx="0"/>
          </p:cNvCxnSpPr>
          <p:nvPr/>
        </p:nvCxnSpPr>
        <p:spPr>
          <a:xfrm rot="16200000" flipH="1">
            <a:off x="9349925" y="3293380"/>
            <a:ext cx="499001" cy="1166253"/>
          </a:xfrm>
          <a:prstGeom prst="bentConnector3">
            <a:avLst>
              <a:gd name="adj1" fmla="val 50000"/>
            </a:avLst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: Elbow 448">
            <a:extLst>
              <a:ext uri="{FF2B5EF4-FFF2-40B4-BE49-F238E27FC236}">
                <a16:creationId xmlns:a16="http://schemas.microsoft.com/office/drawing/2014/main" id="{75651DE6-0318-8754-5329-5113CC0B4EC9}"/>
              </a:ext>
            </a:extLst>
          </p:cNvPr>
          <p:cNvCxnSpPr>
            <a:cxnSpLocks/>
            <a:stCxn id="333" idx="3"/>
            <a:endCxn id="337" idx="0"/>
          </p:cNvCxnSpPr>
          <p:nvPr/>
        </p:nvCxnSpPr>
        <p:spPr>
          <a:xfrm>
            <a:off x="5460372" y="2606949"/>
            <a:ext cx="1132044" cy="384096"/>
          </a:xfrm>
          <a:prstGeom prst="bentConnector2">
            <a:avLst/>
          </a:prstGeom>
          <a:ln w="12700">
            <a:solidFill>
              <a:srgbClr val="005B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Each search starts from what we know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22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5"/>
          <p:cNvSpPr/>
          <p:nvPr/>
        </p:nvSpPr>
        <p:spPr>
          <a:xfrm>
            <a:off x="621720" y="6693480"/>
            <a:ext cx="82890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6"/>
          <p:cNvSpPr/>
          <p:nvPr/>
        </p:nvSpPr>
        <p:spPr>
          <a:xfrm>
            <a:off x="777240" y="1325880"/>
            <a:ext cx="3428640" cy="2925720"/>
          </a:xfrm>
          <a:prstGeom prst="roundRect">
            <a:avLst>
              <a:gd name="adj" fmla="val 2500"/>
            </a:avLst>
          </a:prstGeom>
          <a:solidFill>
            <a:srgbClr val="FFE5EE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Human direction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trader observation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new data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priority market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suspected mechanism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7"/>
          <p:cNvSpPr/>
          <p:nvPr/>
        </p:nvSpPr>
        <p:spPr>
          <a:xfrm>
            <a:off x="4389120" y="1325880"/>
            <a:ext cx="3428640" cy="2925720"/>
          </a:xfrm>
          <a:prstGeom prst="roundRect">
            <a:avLst>
              <a:gd name="adj" fmla="val 2500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Compound Library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useful building blocks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interaction evidence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compounds with evidence of not working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stale or uncertain conclusions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8"/>
          <p:cNvSpPr/>
          <p:nvPr/>
        </p:nvSpPr>
        <p:spPr>
          <a:xfrm>
            <a:off x="8001000" y="1325880"/>
            <a:ext cx="34286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Alpha Bank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portfolio gaps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existing correlations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weak regimes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decaying signals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9"/>
          <p:cNvSpPr/>
          <p:nvPr/>
        </p:nvSpPr>
        <p:spPr>
          <a:xfrm>
            <a:off x="1005840" y="4818240"/>
            <a:ext cx="10195200" cy="85068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 compound that did not work before is not permanently excluded.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It is </a:t>
            </a:r>
            <a:r>
              <a:rPr lang="en-US" sz="1400" u="none" strike="noStrike" dirty="0" err="1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deprioritised</a:t>
            </a: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 unless the new market, horizon, data or interaction is materially different.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Is the research loop learning?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23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5"/>
          <p:cNvSpPr/>
          <p:nvPr/>
        </p:nvSpPr>
        <p:spPr>
          <a:xfrm>
            <a:off x="621720" y="6693480"/>
            <a:ext cx="86659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822960" y="123444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1280160" y="123444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Finding alpha faster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Later campaigns reach promising candidates with fewer repeated or dead-end experiments.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4526280" y="123444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4983480" y="123444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More reuse of compounds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Evidence-backed compounds contribute to later successful candidates.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8229600" y="123444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8686800" y="123444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Fewer expensive tests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Useful candidates require fewer high-fidelity replays.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822960" y="310896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3"/>
          <p:cNvSpPr/>
          <p:nvPr/>
        </p:nvSpPr>
        <p:spPr>
          <a:xfrm>
            <a:off x="1280160" y="310896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Better stability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Later candidates show less out-of-sample deterioration.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4526280" y="3108960"/>
            <a:ext cx="347040" cy="347040"/>
          </a:xfrm>
          <a:prstGeom prst="ellipse">
            <a:avLst/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4983480" y="3108960"/>
            <a:ext cx="301716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More Alpha Bank value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New alphas add genuinely different portfolio information.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1463040" y="5532120"/>
            <a:ext cx="9326520" cy="50256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These measure the research system, not any single alpha.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Foreseeable challenges and planned responses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24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621720" y="6693480"/>
            <a:ext cx="90428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6"/>
          <p:cNvSpPr/>
          <p:nvPr/>
        </p:nvSpPr>
        <p:spPr>
          <a:xfrm>
            <a:off x="685800" y="1143000"/>
            <a:ext cx="3900600" cy="69732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Foreseeable challenge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7"/>
          <p:cNvSpPr/>
          <p:nvPr/>
        </p:nvSpPr>
        <p:spPr>
          <a:xfrm>
            <a:off x="4586760" y="1143000"/>
            <a:ext cx="6934320" cy="69732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Planned response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8"/>
          <p:cNvSpPr/>
          <p:nvPr/>
        </p:nvSpPr>
        <p:spPr>
          <a:xfrm>
            <a:off x="685800" y="186804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Compound combinations grow quickly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9"/>
          <p:cNvSpPr/>
          <p:nvPr/>
        </p:nvSpPr>
        <p:spPr>
          <a:xfrm>
            <a:off x="4586760" y="186804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Limit depth, functions and trial budgets; screen cheaply before replay.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0"/>
          <p:cNvSpPr/>
          <p:nvPr/>
        </p:nvSpPr>
        <p:spPr>
          <a:xfrm>
            <a:off x="685800" y="259308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Model calls may consume many tokens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1"/>
          <p:cNvSpPr/>
          <p:nvPr/>
        </p:nvSpPr>
        <p:spPr>
          <a:xfrm>
            <a:off x="4586760" y="259308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Use local open-weight models for high-volume work; deterministic code enumerates variants.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2"/>
          <p:cNvSpPr/>
          <p:nvPr/>
        </p:nvSpPr>
        <p:spPr>
          <a:xfrm>
            <a:off x="685800" y="331812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Early incorrect conclusions may bias future 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3"/>
          <p:cNvSpPr/>
          <p:nvPr/>
        </p:nvSpPr>
        <p:spPr>
          <a:xfrm>
            <a:off x="4586760" y="331812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Store evidence state, confidence, contradictions and last validation; treat tentative knowledge as a prior.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4"/>
          <p:cNvSpPr/>
          <p:nvPr/>
        </p:nvSpPr>
        <p:spPr>
          <a:xfrm>
            <a:off x="685800" y="404280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Large-scale search can still overfit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5"/>
          <p:cNvSpPr/>
          <p:nvPr/>
        </p:nvSpPr>
        <p:spPr>
          <a:xfrm>
            <a:off x="4586760" y="404280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Register every trial; use null controls, reserved data and live forward testing.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6"/>
          <p:cNvSpPr/>
          <p:nvPr/>
        </p:nvSpPr>
        <p:spPr>
          <a:xfrm>
            <a:off x="685800" y="476784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Generated code may fail or invent interfaces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7"/>
          <p:cNvSpPr/>
          <p:nvPr/>
        </p:nvSpPr>
        <p:spPr>
          <a:xfrm>
            <a:off x="4586760" y="476784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Use controlled interface definitions, automatic compile/test feedback and escalation.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8"/>
          <p:cNvSpPr/>
          <p:nvPr/>
        </p:nvSpPr>
        <p:spPr>
          <a:xfrm>
            <a:off x="685800" y="5492880"/>
            <a:ext cx="390060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Fast assay and event replay may disagree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9"/>
          <p:cNvSpPr/>
          <p:nvPr/>
        </p:nvSpPr>
        <p:spPr>
          <a:xfrm>
            <a:off x="4586760" y="5492880"/>
            <a:ext cx="6934320" cy="697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Maintain versioned bindings and fixed equivalence tests.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0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Where our design overlaps — and where it differs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25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5"/>
          <p:cNvSpPr/>
          <p:nvPr/>
        </p:nvSpPr>
        <p:spPr>
          <a:xfrm>
            <a:off x="621720" y="6693480"/>
            <a:ext cx="94194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6"/>
          <p:cNvSpPr/>
          <p:nvPr/>
        </p:nvSpPr>
        <p:spPr>
          <a:xfrm>
            <a:off x="685980" y="1225980"/>
            <a:ext cx="2925360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Closest precedent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7"/>
          <p:cNvSpPr/>
          <p:nvPr/>
        </p:nvSpPr>
        <p:spPr>
          <a:xfrm>
            <a:off x="3611700" y="1225980"/>
            <a:ext cx="3358800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What we share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8"/>
          <p:cNvSpPr/>
          <p:nvPr/>
        </p:nvSpPr>
        <p:spPr>
          <a:xfrm>
            <a:off x="6970500" y="1225980"/>
            <a:ext cx="4550760" cy="58608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Main difference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9"/>
          <p:cNvSpPr/>
          <p:nvPr/>
        </p:nvSpPr>
        <p:spPr>
          <a:xfrm>
            <a:off x="685980" y="183978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WorldQuant / BRAIN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0"/>
          <p:cNvSpPr/>
          <p:nvPr/>
        </p:nvSpPr>
        <p:spPr>
          <a:xfrm>
            <a:off x="3611700" y="183978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Standard data, functions, tests and scale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1"/>
          <p:cNvSpPr/>
          <p:nvPr/>
        </p:nvSpPr>
        <p:spPr>
          <a:xfrm>
            <a:off x="6970500" y="183978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LLM-guided recursive Compound Library, not only submitted complete signals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2"/>
          <p:cNvSpPr/>
          <p:nvPr/>
        </p:nvSpPr>
        <p:spPr>
          <a:xfrm>
            <a:off x="685980" y="245394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AlphaAgent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3"/>
          <p:cNvSpPr/>
          <p:nvPr/>
        </p:nvSpPr>
        <p:spPr>
          <a:xfrm>
            <a:off x="3611700" y="245394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Structured construction, novelty and complexity controls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4"/>
          <p:cNvSpPr/>
          <p:nvPr/>
        </p:nvSpPr>
        <p:spPr>
          <a:xfrm>
            <a:off x="6970500" y="245394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Intermediate Alpha Compounds remain persistent research knowledge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5"/>
          <p:cNvSpPr/>
          <p:nvPr/>
        </p:nvSpPr>
        <p:spPr>
          <a:xfrm>
            <a:off x="685980" y="306774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R&amp;D-Agent(Q)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6"/>
          <p:cNvSpPr/>
          <p:nvPr/>
        </p:nvSpPr>
        <p:spPr>
          <a:xfrm>
            <a:off x="3611700" y="306774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Hypothesis–code–backtest–feedback loop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7"/>
          <p:cNvSpPr/>
          <p:nvPr/>
        </p:nvSpPr>
        <p:spPr>
          <a:xfrm>
            <a:off x="6970500" y="306774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The loop accumulates compound-level evidence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8"/>
          <p:cNvSpPr/>
          <p:nvPr/>
        </p:nvSpPr>
        <p:spPr>
          <a:xfrm>
            <a:off x="685980" y="368190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Alpha Jungle / AlphaPROBE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9"/>
          <p:cNvSpPr/>
          <p:nvPr/>
        </p:nvSpPr>
        <p:spPr>
          <a:xfrm>
            <a:off x="3611700" y="368190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Guided search and lineage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0"/>
          <p:cNvSpPr/>
          <p:nvPr/>
        </p:nvSpPr>
        <p:spPr>
          <a:xfrm>
            <a:off x="6970500" y="368190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Lineage exists below complete-factor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1"/>
          <p:cNvSpPr/>
          <p:nvPr/>
        </p:nvSpPr>
        <p:spPr>
          <a:xfrm>
            <a:off x="685980" y="4295700"/>
            <a:ext cx="29253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Arial"/>
              </a:rPr>
              <a:t>Memory systems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2"/>
          <p:cNvSpPr/>
          <p:nvPr/>
        </p:nvSpPr>
        <p:spPr>
          <a:xfrm>
            <a:off x="3611700" y="4295700"/>
            <a:ext cx="335880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Reuse of successes and failures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3"/>
          <p:cNvSpPr/>
          <p:nvPr/>
        </p:nvSpPr>
        <p:spPr>
          <a:xfrm>
            <a:off x="6970500" y="4295700"/>
            <a:ext cx="4550760" cy="586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FEA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Memory is organised around compound properties and interaction utility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7"/>
          <p:cNvSpPr/>
          <p:nvPr/>
        </p:nvSpPr>
        <p:spPr>
          <a:xfrm>
            <a:off x="960120" y="5161144"/>
            <a:ext cx="10286640" cy="873536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On top of generating useful alpha, the main difference is making the Alpha Compound the persistent unit of discovery, evidence and institutional memory.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Where this could be used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26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5"/>
          <p:cNvSpPr/>
          <p:nvPr/>
        </p:nvSpPr>
        <p:spPr>
          <a:xfrm>
            <a:off x="621720" y="6693480"/>
            <a:ext cx="97963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6"/>
          <p:cNvSpPr/>
          <p:nvPr/>
        </p:nvSpPr>
        <p:spPr>
          <a:xfrm>
            <a:off x="1258680" y="1317240"/>
            <a:ext cx="4074296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FX electronic trading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Signal research, execution and hedging studies, and repeatable tests for trader observations.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7"/>
          <p:cNvSpPr/>
          <p:nvPr/>
        </p:nvSpPr>
        <p:spPr>
          <a:xfrm>
            <a:off x="6309359" y="1321560"/>
            <a:ext cx="3963831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FX voice trading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Convert market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colour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 and trader intuition into testable theses.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8"/>
          <p:cNvSpPr/>
          <p:nvPr/>
        </p:nvSpPr>
        <p:spPr>
          <a:xfrm>
            <a:off x="1258680" y="3470400"/>
            <a:ext cx="4074296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Cross-asset research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Rates, futures, options, credit, commodities, and lead–lag or relative-value compounds.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9"/>
          <p:cNvSpPr/>
          <p:nvPr/>
        </p:nvSpPr>
        <p:spPr>
          <a:xfrm>
            <a:off x="6309360" y="3470400"/>
            <a:ext cx="3963832" cy="1599840"/>
          </a:xfrm>
          <a:prstGeom prst="roundRect">
            <a:avLst>
              <a:gd name="adj" fmla="val 4571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US" sz="16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Client-configured quantitative products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Client objective → signal research &amp; </a:t>
            </a:r>
            <a:r>
              <a:rPr lang="en-US" sz="1400" b="0" u="none" strike="noStrike" dirty="0" err="1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backtest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 → </a:t>
            </a:r>
            <a:r>
              <a:rPr lang="en-US" sz="1400" dirty="0">
                <a:solidFill>
                  <a:srgbClr val="0B477D"/>
                </a:solidFill>
                <a:latin typeface="Arial"/>
                <a:ea typeface="Arial"/>
              </a:rPr>
              <a:t>a</a:t>
            </a: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uto-approval subject to pre-agreed framework → deployment and monitoring.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A longer-term application requiring the full product-governance process.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Where we are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27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5"/>
          <p:cNvSpPr/>
          <p:nvPr/>
        </p:nvSpPr>
        <p:spPr>
          <a:xfrm>
            <a:off x="621720" y="6693480"/>
            <a:ext cx="1017324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6"/>
          <p:cNvSpPr/>
          <p:nvPr/>
        </p:nvSpPr>
        <p:spPr>
          <a:xfrm>
            <a:off x="822960" y="1371600"/>
            <a:ext cx="5166000" cy="2925720"/>
          </a:xfrm>
          <a:prstGeom prst="roundRect">
            <a:avLst>
              <a:gd name="adj" fmla="val 2500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Already working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A simple prompt can produce a signal thesis.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It can also produce a candidate expression.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This is enough to show the concept, not enough for unattended research.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7"/>
          <p:cNvSpPr/>
          <p:nvPr/>
        </p:nvSpPr>
        <p:spPr>
          <a:xfrm>
            <a:off x="6217920" y="1371600"/>
            <a:ext cx="516600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r>
              <a:rPr lang="en-US" sz="145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Current bottleneck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Generated implementation code is not reliable.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It may fail to compile.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It may invent unavailable interfaces.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• Repeated repair is inconsistent.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8"/>
          <p:cNvSpPr/>
          <p:nvPr/>
        </p:nvSpPr>
        <p:spPr>
          <a:xfrm>
            <a:off x="1097280" y="5029200"/>
            <a:ext cx="10058040" cy="685440"/>
          </a:xfrm>
          <a:prstGeom prst="roundRect">
            <a:avLst>
              <a:gd name="adj" fmla="val 10667"/>
            </a:avLst>
          </a:prstGeom>
          <a:solidFill>
            <a:srgbClr val="FFE5EE"/>
          </a:solidFill>
          <a:ln w="0">
            <a:solidFill>
              <a:srgbClr val="FFC7D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 next dependency is reliable coding and integration, not more thesis generation.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First milestone: close one complete loop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28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5"/>
          <p:cNvSpPr/>
          <p:nvPr/>
        </p:nvSpPr>
        <p:spPr>
          <a:xfrm>
            <a:off x="621720" y="6693480"/>
            <a:ext cx="1054980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6"/>
          <p:cNvSpPr/>
          <p:nvPr/>
        </p:nvSpPr>
        <p:spPr>
          <a:xfrm>
            <a:off x="1097640" y="1280160"/>
            <a:ext cx="15998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Thesis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7"/>
          <p:cNvSpPr/>
          <p:nvPr/>
        </p:nvSpPr>
        <p:spPr>
          <a:xfrm>
            <a:off x="3639189" y="1293777"/>
            <a:ext cx="2401741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Candidate expression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8"/>
          <p:cNvSpPr/>
          <p:nvPr/>
        </p:nvSpPr>
        <p:spPr>
          <a:xfrm>
            <a:off x="6556181" y="1284417"/>
            <a:ext cx="15998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Implementation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9"/>
          <p:cNvSpPr/>
          <p:nvPr/>
        </p:nvSpPr>
        <p:spPr>
          <a:xfrm>
            <a:off x="8658941" y="1280160"/>
            <a:ext cx="2214319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Compile and test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0"/>
          <p:cNvSpPr/>
          <p:nvPr/>
        </p:nvSpPr>
        <p:spPr>
          <a:xfrm>
            <a:off x="8910713" y="3742959"/>
            <a:ext cx="1962547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 err="1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Backtest</a:t>
            </a: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 and statistics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1"/>
          <p:cNvSpPr/>
          <p:nvPr/>
        </p:nvSpPr>
        <p:spPr>
          <a:xfrm>
            <a:off x="7109910" y="3749040"/>
            <a:ext cx="1285733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Conclusion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2"/>
          <p:cNvSpPr/>
          <p:nvPr/>
        </p:nvSpPr>
        <p:spPr>
          <a:xfrm>
            <a:off x="4229369" y="3749040"/>
            <a:ext cx="2377621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0B477D"/>
                </a:solidFill>
                <a:latin typeface="Arial"/>
                <a:ea typeface="Arial"/>
              </a:rPr>
              <a:t>Distilling </a:t>
            </a: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Compounds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3"/>
          <p:cNvSpPr/>
          <p:nvPr/>
        </p:nvSpPr>
        <p:spPr>
          <a:xfrm>
            <a:off x="1097639" y="3749040"/>
            <a:ext cx="2592359" cy="685440"/>
          </a:xfrm>
          <a:prstGeom prst="roundRect">
            <a:avLst>
              <a:gd name="adj" fmla="val 10667"/>
            </a:avLst>
          </a:prstGeom>
          <a:solidFill>
            <a:srgbClr val="EAF6FF"/>
          </a:solidFill>
          <a:ln w="1764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Compound Library update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4"/>
          <p:cNvSpPr/>
          <p:nvPr/>
        </p:nvSpPr>
        <p:spPr>
          <a:xfrm>
            <a:off x="2697840" y="1627560"/>
            <a:ext cx="941349" cy="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5"/>
          <p:cNvSpPr/>
          <p:nvPr/>
        </p:nvSpPr>
        <p:spPr>
          <a:xfrm>
            <a:off x="6028961" y="1631817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6"/>
          <p:cNvSpPr/>
          <p:nvPr/>
        </p:nvSpPr>
        <p:spPr>
          <a:xfrm>
            <a:off x="8156021" y="1631817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7"/>
          <p:cNvSpPr/>
          <p:nvPr/>
        </p:nvSpPr>
        <p:spPr>
          <a:xfrm>
            <a:off x="10068660" y="1965960"/>
            <a:ext cx="360" cy="178308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8"/>
          <p:cNvSpPr/>
          <p:nvPr/>
        </p:nvSpPr>
        <p:spPr>
          <a:xfrm flipH="1">
            <a:off x="8407793" y="4091760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9"/>
          <p:cNvSpPr/>
          <p:nvPr/>
        </p:nvSpPr>
        <p:spPr>
          <a:xfrm flipH="1">
            <a:off x="6619140" y="4096440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0"/>
          <p:cNvSpPr/>
          <p:nvPr/>
        </p:nvSpPr>
        <p:spPr>
          <a:xfrm flipH="1">
            <a:off x="3726089" y="4091760"/>
            <a:ext cx="502920" cy="36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21"/>
          <p:cNvSpPr/>
          <p:nvPr/>
        </p:nvSpPr>
        <p:spPr>
          <a:xfrm flipV="1">
            <a:off x="1892880" y="1965960"/>
            <a:ext cx="360" cy="1783080"/>
          </a:xfrm>
          <a:prstGeom prst="line">
            <a:avLst/>
          </a:prstGeom>
          <a:ln w="15120">
            <a:solidFill>
              <a:srgbClr val="005BA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22"/>
          <p:cNvSpPr/>
          <p:nvPr/>
        </p:nvSpPr>
        <p:spPr>
          <a:xfrm>
            <a:off x="2697480" y="251460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B477D"/>
                </a:solidFill>
                <a:effectLst/>
                <a:uFillTx/>
                <a:latin typeface="Arial"/>
              </a:rPr>
              <a:t>The loop must produce supported / unsupported / inconclusive conclusion · behavioural profile for each compound · interaction contribution · failure evidence and follow-up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3"/>
          <p:cNvSpPr/>
          <p:nvPr/>
        </p:nvSpPr>
        <p:spPr>
          <a:xfrm>
            <a:off x="1097280" y="5176080"/>
            <a:ext cx="9966600" cy="812880"/>
          </a:xfrm>
          <a:prstGeom prst="roundRect">
            <a:avLst>
              <a:gd name="adj" fmla="val 14545"/>
            </a:avLst>
          </a:prstGeom>
          <a:solidFill>
            <a:srgbClr val="EAF6FF"/>
          </a:solidFill>
          <a:ln w="0">
            <a:solidFill>
              <a:srgbClr val="CFEA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Success criterion: complete, reproducible learning loop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B477D"/>
                </a:solidFill>
                <a:latin typeface="Arial"/>
                <a:ea typeface="Arial"/>
              </a:rPr>
              <a:t>R</a:t>
            </a:r>
            <a:r>
              <a:rPr lang="en-US" sz="140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uns from thesis to evidence, conclusion and updated institutional knowledge.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BFF"/>
          </a:solidFill>
          <a:ln w="12600">
            <a:solidFill>
              <a:srgbClr val="F3FB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1"/>
          <p:cNvSpPr/>
          <p:nvPr/>
        </p:nvSpPr>
        <p:spPr>
          <a:xfrm>
            <a:off x="0" y="0"/>
            <a:ext cx="7863480" cy="118440"/>
          </a:xfrm>
          <a:prstGeom prst="rect">
            <a:avLst/>
          </a:prstGeom>
          <a:solidFill>
            <a:srgbClr val="003A70"/>
          </a:solidFill>
          <a:ln w="12600">
            <a:solidFill>
              <a:srgbClr val="003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2"/>
          <p:cNvSpPr/>
          <p:nvPr/>
        </p:nvSpPr>
        <p:spPr>
          <a:xfrm>
            <a:off x="7863840" y="0"/>
            <a:ext cx="4327560" cy="11844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3"/>
          <p:cNvSpPr/>
          <p:nvPr/>
        </p:nvSpPr>
        <p:spPr>
          <a:xfrm>
            <a:off x="621720" y="384120"/>
            <a:ext cx="10423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After the loop works: what’s next?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4"/>
          <p:cNvSpPr/>
          <p:nvPr/>
        </p:nvSpPr>
        <p:spPr>
          <a:xfrm>
            <a:off x="11155680" y="653796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BAC"/>
                </a:solidFill>
                <a:effectLst/>
                <a:uFillTx/>
                <a:latin typeface="Arial"/>
              </a:rPr>
              <a:t>29 /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5"/>
          <p:cNvSpPr/>
          <p:nvPr/>
        </p:nvSpPr>
        <p:spPr>
          <a:xfrm>
            <a:off x="621720" y="6693480"/>
            <a:ext cx="10926720" cy="31680"/>
          </a:xfrm>
          <a:prstGeom prst="rect">
            <a:avLst/>
          </a:prstGeom>
          <a:solidFill>
            <a:srgbClr val="E4002B"/>
          </a:solidFill>
          <a:ln w="12600">
            <a:solidFill>
              <a:srgbClr val="E400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6"/>
          <p:cNvSpPr/>
          <p:nvPr/>
        </p:nvSpPr>
        <p:spPr>
          <a:xfrm>
            <a:off x="822960" y="1325880"/>
            <a:ext cx="498312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Broad parallel search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Many ideas, shallow exploration.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7"/>
          <p:cNvSpPr/>
          <p:nvPr/>
        </p:nvSpPr>
        <p:spPr>
          <a:xfrm>
            <a:off x="6309360" y="1325880"/>
            <a:ext cx="498312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Deep lineage search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One promising family, several recursive generations.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8"/>
          <p:cNvSpPr/>
          <p:nvPr/>
        </p:nvSpPr>
        <p:spPr>
          <a:xfrm>
            <a:off x="822960" y="3154680"/>
            <a:ext cx="498312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Random exploration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Prevents excessive path dependence.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9"/>
          <p:cNvSpPr/>
          <p:nvPr/>
        </p:nvSpPr>
        <p:spPr>
          <a:xfrm>
            <a:off x="6309360" y="3154680"/>
            <a:ext cx="4983120" cy="1234080"/>
          </a:xfrm>
          <a:prstGeom prst="roundRect">
            <a:avLst>
              <a:gd name="adj" fmla="val 5926"/>
            </a:avLst>
          </a:prstGeom>
          <a:solidFill>
            <a:srgbClr val="EAF6FF"/>
          </a:solidFill>
          <a:ln w="15120">
            <a:solidFill>
              <a:srgbClr val="9BCF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u="none" strike="noStrike" dirty="0">
                <a:solidFill>
                  <a:srgbClr val="003A70"/>
                </a:solidFill>
                <a:effectLst/>
                <a:uFillTx/>
                <a:latin typeface="Arial"/>
                <a:ea typeface="Arial"/>
              </a:rPr>
              <a:t>Human-guided search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B477D"/>
                </a:solidFill>
                <a:effectLst/>
                <a:uFillTx/>
                <a:latin typeface="Arial"/>
                <a:ea typeface="Arial"/>
              </a:rPr>
              <a:t>Trader tips and market observations combined with Compound Library knowledge.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0"/>
          <p:cNvSpPr/>
          <p:nvPr/>
        </p:nvSpPr>
        <p:spPr>
          <a:xfrm>
            <a:off x="1280160" y="5440680"/>
            <a:ext cx="9600840" cy="502560"/>
          </a:xfrm>
          <a:prstGeom prst="roundRect">
            <a:avLst>
              <a:gd name="adj" fmla="val 14545"/>
            </a:avLst>
          </a:prstGeom>
          <a:solidFill>
            <a:srgbClr val="E4002B"/>
          </a:solidFill>
          <a:ln w="0">
            <a:solidFill>
              <a:srgbClr val="E400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00" tIns="64080" rIns="118800" bIns="64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Once the loop works, the search policy itself becomes the next research question.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3391</Words>
  <Application>Microsoft Office PowerPoint</Application>
  <PresentationFormat>Widescreen</PresentationFormat>
  <Paragraphs>532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Lin Mei</dc:creator>
  <cp:lastModifiedBy>Lin Mei</cp:lastModifiedBy>
  <cp:revision>19</cp:revision>
  <dcterms:modified xsi:type="dcterms:W3CDTF">2026-08-16T20:51:39Z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2026-08-16T15:22:18Z</dcterms:created>
  <dc:creator>OpenAI</dc:creator>
  <dc:description/>
  <dc:language>en-US</dc:language>
  <cp:lastModifiedBy>OpenAI</cp:lastModifiedBy>
  <dcterms:modified xsi:type="dcterms:W3CDTF">2026-08-16T15:22:18Z</dcterms:modified>
  <cp:revision>1</cp:revision>
  <dc:subject>Alpha Auto Research</dc:subject>
  <dc:title>Alpha Auto Research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29</vt:r8>
  </property>
  <property fmtid="{D5CDD505-2E9C-101B-9397-08002B2CF9AE}" pid="3" name="PresentationFormat">
    <vt:lpwstr>On-screen Show (16:9)</vt:lpwstr>
  </property>
  <property fmtid="{D5CDD505-2E9C-101B-9397-08002B2CF9AE}" pid="4" name="Slides">
    <vt:r8>29</vt:r8>
  </property>
</Properties>
</file>