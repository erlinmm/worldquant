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89" r:id="rId9"/>
    <p:sldId id="286" r:id="rId10"/>
    <p:sldId id="287" r:id="rId11"/>
    <p:sldId id="288" r:id="rId12"/>
    <p:sldId id="262" r:id="rId13"/>
    <p:sldId id="290" r:id="rId14"/>
    <p:sldId id="263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6" r:id="rId30"/>
    <p:sldId id="305" r:id="rId31"/>
    <p:sldId id="307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C"/>
    <a:srgbClr val="0B477D"/>
    <a:srgbClr val="CF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D85FB7A4-72C0-420E-96FF-41E86F280C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AF4263-E74B-44B4-88DE-82149BBA07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1A12D6-BD9F-43B1-935C-865B1AEBF6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E50EE-DE65-433A-962D-D09FD1BFA4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B9FDD5-8BE3-4138-8FA2-0F5921F25E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CA8715-79D3-47E7-A868-3EB4514ED1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4D401D-BAFA-42EF-9E5B-A3568DF83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execution: alpha value is not a clean prediction metric. Simulator must model the order life cycle, not just replay price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these simulators are identical. Their common role is evidence generation and comparability across research candidates.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hinge slide before “market already moved.” Place simulation first: it is the foundation for DNN fitting and symbolic alpha mining.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538C05-F751-43D9-B1D1-1074B241E2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in the spoken track: the numbers show resource commitment and business scale, not exact DNN-attributed P&amp;L.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EF830-8F4E-4F05-ABFD-D8211D9DEB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WorldQuant’s 2026 article lets us say the AI-agent loop more directly. Keep the boundary: we are not claiming internal production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establishes the public environment before introducing AgonAlpha.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AgonAlpha is introduced as public evidence that LLM agents can interact with an external simulator and maintain a trail of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WorldQuant’s 2026 article lets us say the AI-agent loop more directly. Keep the boundary: we are not claiming internal production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establishes the public environment before introducing AgonAlpha.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AgonAlpha is introduced as public evidence that LLM agents can interact with an external simulator and maintain a trail of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should sound confident but humble: later than WorldQuant, but that provides de-risking.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 the academic review: what matters is the trajectory toward artifact, evidence, memory and iterative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AlphaBench supports keeping the first experiment simple and simulator-backed.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opening for us is our Java CEP simulator and order-lifecycle model. This starts the proposal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concrete experiment. Keep it small: one model can act as Designer and Analyst with two short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is the evidence source. The LLM reads the evidence; it does not rewrite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compares our approach with both institutions and academic/WQ methods. Emphasize FX, high-frequency data, order lifecycle and simulator-backed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success criteria judge the loop, not only alpha Sharpe. A failed alpha is useful if it creates valid knowledge and a smarter second attempt.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bounded ask: one simulator-connected two-generation FX experiment, judged by loop quality and existing human review, not immediate production autonomy.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2D9E27-983D-4D2D-96DD-1DE93A0CB3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A904C1-7EB8-4E01-9409-2D799DB2F9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0A1CA-FBA1-4DC1-B7C2-9AB063E9F4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14D0B1-18E8-44CA-BA71-6BEFBC2B2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468D35-60FA-4D72-BB77-590D0B9053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F0D306-6D7D-44AA-8D69-CE7BAD25E6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37332D-F04F-4236-9495-30AB6B6FE7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DAC31-CFEB-461C-B384-72CB750D4E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C700F3-94EE-4886-BA3B-21B3B2BC5E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E4D57F-1AD6-48EB-AEE8-79A1AD89E4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46EF70-A63F-4B56-8778-05D23B3E43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F99ACB-263C-4C9F-A42E-5A5E531875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D72E4-9604-4E27-81CE-605979B9F8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39E55A-4DE7-4DF8-AC68-97FAA2ACAC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C505ED-59C7-4EB4-A0E4-B3A80F8CC2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38CB8-47D0-4E87-B674-97EF23346F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E5AEB-0C04-4811-988B-3CDEBC4B2E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0EB26F-1823-4CC1-89D2-DB17AFABE4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B1DB7F-9EF1-42CF-BF74-BBA180326C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6D5F2C-5701-4E08-864B-89C5ADEA4F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0A427C-7EF3-40D7-8110-35D7E8C0AF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2606040"/>
            <a:ext cx="10606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 Auto Research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01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21720" y="6693480"/>
            <a:ext cx="3765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What we want to do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02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621720" y="6693480"/>
            <a:ext cx="7531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85800" y="1152000"/>
            <a:ext cx="10835280" cy="68544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2016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Find useful alpha in FX, faster.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85800" y="214884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Asset class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FX.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" name="Text 8"/>
          <p:cNvSpPr/>
          <p:nvPr/>
        </p:nvSpPr>
        <p:spPr>
          <a:xfrm>
            <a:off x="4389120" y="214884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Target horizon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Five minutes to two weeks.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" name="Text 9"/>
          <p:cNvSpPr/>
          <p:nvPr/>
        </p:nvSpPr>
        <p:spPr>
          <a:xfrm>
            <a:off x="8092440" y="214884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Research goal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Use large language models to accelerate an alpha research process that remains largely manual.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1325880" y="4160520"/>
            <a:ext cx="9509400" cy="914040"/>
          </a:xfrm>
          <a:prstGeom prst="roundRect">
            <a:avLst>
              <a:gd name="adj" fmla="val 8000"/>
            </a:avLst>
          </a:prstGeom>
          <a:solidFill>
            <a:srgbClr val="FFE5EE"/>
          </a:solidFill>
          <a:ln w="17640">
            <a:solidFill>
              <a:srgbClr val="FFC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aim is not just to produce more predictions. </a:t>
            </a:r>
            <a:endParaRPr lang="en-US" sz="1800" b="1" u="none" strike="noStrike" dirty="0">
              <a:solidFill>
                <a:srgbClr val="003A70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It is to produce an automated system to produce more predictions.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How alpha research still works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03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621720" y="6693480"/>
            <a:ext cx="11300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" name="Text 6"/>
          <p:cNvSpPr/>
          <p:nvPr/>
        </p:nvSpPr>
        <p:spPr>
          <a:xfrm>
            <a:off x="640080" y="1417320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Signal idea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" name="Text 7"/>
          <p:cNvSpPr/>
          <p:nvPr/>
        </p:nvSpPr>
        <p:spPr>
          <a:xfrm>
            <a:off x="2514600" y="1417320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Choose data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" name="Text 8"/>
          <p:cNvSpPr/>
          <p:nvPr/>
        </p:nvSpPr>
        <p:spPr>
          <a:xfrm>
            <a:off x="4389120" y="1417320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Write signal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" name="Text 9"/>
          <p:cNvSpPr/>
          <p:nvPr/>
        </p:nvSpPr>
        <p:spPr>
          <a:xfrm>
            <a:off x="6263640" y="1417320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Backtest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6263640" y="2719725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Review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2057400" y="1728000"/>
            <a:ext cx="45720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3931920" y="1728000"/>
            <a:ext cx="45720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5806440" y="1728000"/>
            <a:ext cx="45720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2514600" y="2688300"/>
            <a:ext cx="1416960" cy="639720"/>
          </a:xfrm>
          <a:prstGeom prst="roundRect">
            <a:avLst>
              <a:gd name="adj" fmla="val 11429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Revise the idea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6941207" y="3337561"/>
            <a:ext cx="8779" cy="7041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6941207" y="2038680"/>
            <a:ext cx="8779" cy="64962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" name="Shape 22"/>
          <p:cNvSpPr/>
          <p:nvPr/>
        </p:nvSpPr>
        <p:spPr>
          <a:xfrm flipH="1">
            <a:off x="3944118" y="2998929"/>
            <a:ext cx="2318615" cy="8820"/>
          </a:xfrm>
          <a:prstGeom prst="line">
            <a:avLst/>
          </a:prstGeom>
          <a:ln w="15120">
            <a:solidFill>
              <a:srgbClr val="005BAC"/>
            </a:solidFill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0" name="Shape 23"/>
          <p:cNvSpPr/>
          <p:nvPr/>
        </p:nvSpPr>
        <p:spPr>
          <a:xfrm flipV="1">
            <a:off x="3219341" y="2039040"/>
            <a:ext cx="8779" cy="621361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1005840" y="525780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Review has three outcomes: bin the idea, revise it and return to the research loop, or promote it for production follow-up.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Text 17"/>
          <p:cNvSpPr/>
          <p:nvPr/>
        </p:nvSpPr>
        <p:spPr>
          <a:xfrm>
            <a:off x="6127206" y="4013518"/>
            <a:ext cx="1645560" cy="484020"/>
          </a:xfrm>
          <a:prstGeom prst="roundRect">
            <a:avLst>
              <a:gd name="adj" fmla="val 8000"/>
            </a:avLst>
          </a:prstGeom>
          <a:solidFill>
            <a:schemeClr val="accent1">
              <a:lumMod val="75000"/>
            </a:schemeClr>
          </a:solidFill>
          <a:ln w="0">
            <a:solidFill>
              <a:srgbClr val="003A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Bin the idea</a:t>
            </a:r>
            <a:endParaRPr lang="en-US" sz="1250" b="1" u="none" strike="noStrike" dirty="0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Shape 18"/>
          <p:cNvSpPr/>
          <p:nvPr/>
        </p:nvSpPr>
        <p:spPr>
          <a:xfrm>
            <a:off x="7680600" y="2998929"/>
            <a:ext cx="1234800" cy="18951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Text 12"/>
          <p:cNvSpPr/>
          <p:nvPr/>
        </p:nvSpPr>
        <p:spPr>
          <a:xfrm>
            <a:off x="8923198" y="2618941"/>
            <a:ext cx="1645559" cy="777615"/>
          </a:xfrm>
          <a:prstGeom prst="roundRect">
            <a:avLst>
              <a:gd name="adj" fmla="val 10256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15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Promote to</a:t>
            </a:r>
            <a:endParaRPr lang="en-GB" sz="1150" b="1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15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Alpha Bank</a:t>
            </a:r>
            <a:endParaRPr lang="en-GB" sz="1150" b="1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15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production process</a:t>
            </a:r>
            <a:endParaRPr lang="en-GB" sz="1150" b="1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WebSim: distributed alpha research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04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621720" y="6693480"/>
            <a:ext cx="15069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8" name="Text 6"/>
          <p:cNvSpPr/>
          <p:nvPr/>
        </p:nvSpPr>
        <p:spPr>
          <a:xfrm>
            <a:off x="685800" y="1051560"/>
            <a:ext cx="10835280" cy="411120"/>
          </a:xfrm>
          <a:prstGeom prst="roundRect">
            <a:avLst>
              <a:gd name="adj" fmla="val 17778"/>
            </a:avLst>
          </a:prstGeom>
          <a:solidFill>
            <a:srgbClr val="003A70"/>
          </a:solidFill>
          <a:ln w="0">
            <a:solidFill>
              <a:srgbClr val="003A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How WebSim worked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7724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Shared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market data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0" name="Text 8"/>
          <p:cNvSpPr/>
          <p:nvPr/>
        </p:nvSpPr>
        <p:spPr>
          <a:xfrm>
            <a:off x="262440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Predefined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functions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1" name="Text 9"/>
          <p:cNvSpPr/>
          <p:nvPr/>
        </p:nvSpPr>
        <p:spPr>
          <a:xfrm>
            <a:off x="447156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Write 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signal formula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631836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Run a web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backtest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816552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Receive scores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and feedback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1001268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Submit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alpha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2286000" y="2185200"/>
            <a:ext cx="33804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4132800" y="2185200"/>
            <a:ext cx="33840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5979960" y="2185200"/>
            <a:ext cx="33840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7827120" y="2185200"/>
            <a:ext cx="33840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9674280" y="2185200"/>
            <a:ext cx="33840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960120" y="2788920"/>
            <a:ext cx="10332360" cy="50256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Public materials describe rankings, competitions, research-consultant opportunities and potential compensation for qualifying submissions.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777240" y="3794760"/>
            <a:ext cx="4617360" cy="959760"/>
          </a:xfrm>
          <a:prstGeom prst="roundRect">
            <a:avLst>
              <a:gd name="adj" fmla="val 7619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Research workforce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 globally distributed consultant network, with substantial participation from lower-cost talent centres outside traditional financial hubs.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623560" y="3895713"/>
            <a:ext cx="5714640" cy="703800"/>
            <a:chOff x="5623560" y="3840480"/>
            <a:chExt cx="5714640" cy="703800"/>
          </a:xfrm>
        </p:grpSpPr>
        <p:sp>
          <p:nvSpPr>
            <p:cNvPr id="72" name="Text 20"/>
            <p:cNvSpPr/>
            <p:nvPr/>
          </p:nvSpPr>
          <p:spPr>
            <a:xfrm>
              <a:off x="562356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India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73" name="Text 21"/>
            <p:cNvSpPr/>
            <p:nvPr/>
          </p:nvSpPr>
          <p:spPr>
            <a:xfrm>
              <a:off x="679392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85000" lnSpcReduction="9999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 dirty="0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Mainland China</a:t>
              </a:r>
              <a:endParaRPr lang="en-US" sz="95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74" name="Text 22"/>
            <p:cNvSpPr/>
            <p:nvPr/>
          </p:nvSpPr>
          <p:spPr>
            <a:xfrm>
              <a:off x="796428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Vietnam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75" name="Text 23"/>
            <p:cNvSpPr/>
            <p:nvPr/>
          </p:nvSpPr>
          <p:spPr>
            <a:xfrm>
              <a:off x="913500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Indonesia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76" name="Text 24"/>
            <p:cNvSpPr/>
            <p:nvPr/>
          </p:nvSpPr>
          <p:spPr>
            <a:xfrm>
              <a:off x="1030536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Malaysia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77" name="Text 25"/>
            <p:cNvSpPr/>
            <p:nvPr/>
          </p:nvSpPr>
          <p:spPr>
            <a:xfrm>
              <a:off x="562356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Kenya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78" name="Text 26"/>
            <p:cNvSpPr/>
            <p:nvPr/>
          </p:nvSpPr>
          <p:spPr>
            <a:xfrm>
              <a:off x="679392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Nigeria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79" name="Text 27"/>
            <p:cNvSpPr/>
            <p:nvPr/>
          </p:nvSpPr>
          <p:spPr>
            <a:xfrm>
              <a:off x="796428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Armenia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80" name="Text 28"/>
            <p:cNvSpPr/>
            <p:nvPr/>
          </p:nvSpPr>
          <p:spPr>
            <a:xfrm>
              <a:off x="913500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Georgia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81" name="Text 29"/>
            <p:cNvSpPr/>
            <p:nvPr/>
          </p:nvSpPr>
          <p:spPr>
            <a:xfrm>
              <a:off x="1030536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 panose="020B0604020202020204"/>
                </a:rPr>
                <a:t>Hungary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sp>
        <p:nvSpPr>
          <p:cNvPr id="82" name="Shape 30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3" name="Text 31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Sources: Finding Alphas, 2nd ed. · WorldQuant BRAIN Research Consultant Program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10698480" cy="49403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GB" altLang="en-US" sz="165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USP: </a:t>
            </a:r>
            <a:r>
              <a:rPr lang="en-US" sz="165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Standardise the research process, then scale the number of researchers and tests.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From WebSim to BRAIN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05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621720" y="6693480"/>
            <a:ext cx="18835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0" name="Text 6"/>
          <p:cNvSpPr/>
          <p:nvPr/>
        </p:nvSpPr>
        <p:spPr>
          <a:xfrm>
            <a:off x="777240" y="1207080"/>
            <a:ext cx="914040" cy="292320"/>
          </a:xfrm>
          <a:prstGeom prst="roundRect">
            <a:avLst>
              <a:gd name="adj" fmla="val 15625"/>
            </a:avLst>
          </a:prstGeom>
          <a:solidFill>
            <a:srgbClr val="CFEAFF"/>
          </a:solidFill>
          <a:ln w="0">
            <a:solidFill>
              <a:srgbClr val="CFEA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2019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1" name="Text 7"/>
          <p:cNvSpPr/>
          <p:nvPr/>
        </p:nvSpPr>
        <p:spPr>
          <a:xfrm>
            <a:off x="777240" y="1600200"/>
            <a:ext cx="3245760" cy="2285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WebSim / Virtual Research Center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WorldQuant reported more than 20 million alphas produced and more than 2,000 research consultants.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4023360" y="2743200"/>
            <a:ext cx="411480" cy="360"/>
          </a:xfrm>
          <a:prstGeom prst="line">
            <a:avLst/>
          </a:prstGeom>
          <a:ln w="1764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3" name="Text 9"/>
          <p:cNvSpPr/>
          <p:nvPr/>
        </p:nvSpPr>
        <p:spPr>
          <a:xfrm>
            <a:off x="4572000" y="1207080"/>
            <a:ext cx="914040" cy="292320"/>
          </a:xfrm>
          <a:prstGeom prst="roundRect">
            <a:avLst>
              <a:gd name="adj" fmla="val 15625"/>
            </a:avLst>
          </a:prstGeom>
          <a:solidFill>
            <a:srgbClr val="CFEAFF"/>
          </a:solidFill>
          <a:ln w="0">
            <a:solidFill>
              <a:srgbClr val="CFEA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2022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4572000" y="1600200"/>
            <a:ext cx="3245760" cy="2285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BRAIN opens more broadly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More than 21,000 users, 700 consultants and 65,000 data fields were reported.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7818120" y="2743200"/>
            <a:ext cx="411480" cy="360"/>
          </a:xfrm>
          <a:prstGeom prst="line">
            <a:avLst/>
          </a:prstGeom>
          <a:ln w="1764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8366760" y="1207080"/>
            <a:ext cx="914040" cy="292320"/>
          </a:xfrm>
          <a:prstGeom prst="roundRect">
            <a:avLst>
              <a:gd name="adj" fmla="val 15625"/>
            </a:avLst>
          </a:prstGeom>
          <a:solidFill>
            <a:srgbClr val="FFE5EE"/>
          </a:solidFill>
          <a:ln w="0">
            <a:solidFill>
              <a:srgbClr val="FFE5EE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Current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8366760" y="1600200"/>
            <a:ext cx="3245760" cy="2285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 global research community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550,000+ users, 16,000+ consultants, 17 regions and access to 400,000+ data fields.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1097280" y="4892040"/>
            <a:ext cx="10012320" cy="68544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competitive edge grew through three transitions: </a:t>
            </a:r>
            <a:endParaRPr lang="en-US" sz="1700" b="1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platform → community → a much larger research funnel.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Sources: Finding Alphas, 2nd ed. · WorldQuant, 2022 Global Alphathon release · Current BRAIN consultant programme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problem created by scale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06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621720" y="6693480"/>
            <a:ext cx="22604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822960" y="1143000"/>
            <a:ext cx="3474360" cy="1554120"/>
          </a:xfrm>
          <a:prstGeom prst="roundRect">
            <a:avLst>
              <a:gd name="adj" fmla="val 4706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20M+ alphas </a:t>
            </a:r>
            <a:endParaRPr lang="en-US" sz="2800" b="1" u="none" strike="noStrike" dirty="0">
              <a:solidFill>
                <a:srgbClr val="003A70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reported as produced by World Quant by 2019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4617720" y="1143000"/>
            <a:ext cx="667476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platform advantage is not only the formulas. </a:t>
            </a:r>
            <a:endParaRPr lang="en-US" sz="1550" b="1" u="none" strike="noStrike" dirty="0">
              <a:solidFill>
                <a:srgbClr val="003A70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It includes the accumulated history of tests, failed ideas, correlations, combinations, decay and research infrastructure.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822960" y="3429000"/>
            <a:ext cx="4845960" cy="1234080"/>
          </a:xfrm>
          <a:prstGeom prst="roundRect">
            <a:avLst>
              <a:gd name="adj" fmla="val 4848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research problem changes</a:t>
            </a:r>
            <a:endParaRPr lang="en-US" sz="1450" b="1" u="none" strike="noStrike" dirty="0">
              <a:solidFill>
                <a:srgbClr val="003A70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At this scale, the job moves from finding individual signals to selecting and combining them.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5989320" y="3154680"/>
            <a:ext cx="5303160" cy="1737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Portfolio Managers’ challenge</a:t>
            </a:r>
            <a:endParaRPr lang="en-US" sz="1450" b="1" u="none" strike="noStrike" dirty="0">
              <a:solidFill>
                <a:srgbClr val="003A70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Which signals still work?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Which are genuinely different?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Which combinations improve portfolio Sharpe?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Which should be retired?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960120" y="5532120"/>
            <a:ext cx="10240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Caveat: produced candidates are not the same as accepted, independent or live production signals.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Sources: Finding Alphas, 2nd ed. · Kakushadze &amp; Yu, How to Combine a Billion Alphas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Simulation plays a core role in the alpha research process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7246" y="960120"/>
            <a:ext cx="10789920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is not only market-data replay. Serious simulation includes the whole order lifecycle.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25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12382" y="1371600"/>
            <a:ext cx="1982419" cy="109728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 state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quotes · trades · book · liquidity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49665" y="1766621"/>
            <a:ext cx="201168" cy="3072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05697" y="1371600"/>
            <a:ext cx="1982419" cy="109728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 action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submit · cancel · amend · aggress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4842980" y="1766621"/>
            <a:ext cx="201168" cy="3072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99012" y="1371600"/>
            <a:ext cx="1982419" cy="109728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Fill process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partial fills · rejects · queue · latency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7136296" y="1766621"/>
            <a:ext cx="201168" cy="3072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92328" y="1371600"/>
            <a:ext cx="1982419" cy="109728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Execution report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point-in-time feedback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9429611" y="1766621"/>
            <a:ext cx="201168" cy="3072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85643" y="1371600"/>
            <a:ext cx="1982419" cy="109728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P&amp;L evidence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costs · markout · risk · capacity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22110" y="3246120"/>
            <a:ext cx="10972800" cy="786384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Alpha value is heavily shaped by execution. A good forecast can be untradable; a modest forecast can be valuable if execution and sizing are right.</a:t>
            </a:r>
            <a:endParaRPr lang="en-US" sz="1740" dirty="0"/>
          </a:p>
        </p:txBody>
      </p:sp>
      <p:sp>
        <p:nvSpPr>
          <p:cNvPr id="17" name="Text 15"/>
          <p:cNvSpPr/>
          <p:nvPr/>
        </p:nvSpPr>
        <p:spPr>
          <a:xfrm>
            <a:off x="622110" y="4389120"/>
            <a:ext cx="53766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this matters</a:t>
            </a:r>
            <a:endParaRPr lang="en-US" sz="12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simulator turns a market idea into evidence under realistic order placement, fills, costs and execution reports.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6218238" y="4389120"/>
            <a:ext cx="53766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Management point</a:t>
            </a:r>
            <a:endParaRPr lang="en-US" sz="12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Without the simulator, AI merely proposes. With the simulator, the research process can learn safely.</a:t>
            </a:r>
            <a:endParaRPr lang="en-US" sz="12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Different firms use simulators for different jobs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WorldQuant IQC 2026 Guidelines; Two Sigma SigOpt parameter tuning article, 2018; Lambda–HRT partnership, 20 May 2026; Jump Trading AI/ML overview.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512382" y="1143000"/>
            <a:ext cx="269290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— standardised alpha scoring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BRAIN lets researchers build alphas with historical market data and predefined operators, then simulate under common rules so huge candidate pools become comparable.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3333306" y="1143000"/>
            <a:ext cx="269290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Sigma — experiment evaluation and tuning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material describes research depending on intricate simulations, with shared infrastructure to scale evaluation and automated parameter tuning.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154230" y="1143000"/>
            <a:ext cx="269290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HRT — strategy simulation and model training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HRT research workload is described as both training models and running large-scale trading-strategy simulations on modern GPU infrastructure.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975154" y="1143000"/>
            <a:ext cx="269290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Jump — industrial feedback loop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Jump publicly reports more than five million simulations per day and a model-to-trader feedback cycle of less than 24 hours.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31838" y="4599432"/>
            <a:ext cx="10698480" cy="59436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Different simulators, same job: turn an idea or forecast into comparable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market simulator is the foundation of AI-era alpha research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7246" y="960120"/>
            <a:ext cx="10789920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model proposes. The simulator supplies the evidence.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25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640398" y="1554480"/>
            <a:ext cx="34930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backtest that ignores fills, latency, costs and execution reports can turn weak execution into fake alpha.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334574" y="1554480"/>
            <a:ext cx="34930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scale changes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firms can test millions of variants, simulator discipline becomes more important, not less.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028750" y="1554480"/>
            <a:ext cx="3493008" cy="201168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starting advantage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already have a strong Java CEP simulator for the order lifecycle. It should be the judge from day one.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86118" y="4069080"/>
            <a:ext cx="10789920" cy="82296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Whether the input is a hand-written rule, a DNN forecast, or an LLM-generated symbolic alpha, it must pass through a simulator before anyone should trust 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74838" y="5257800"/>
            <a:ext cx="8412480" cy="50292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the AI era, the simulator is not a support tool. It is the research court.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Deep learning offered another route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07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621720" y="6693480"/>
            <a:ext cx="26373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777240" y="1051560"/>
            <a:ext cx="10789560" cy="50256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Learn prediction directly from data rather than write every signal formula.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777239" y="1828800"/>
            <a:ext cx="3629063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Two Sigma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Publicly discussed deep learning for sequence-based forecasting and other stages of quantitative investing.</a:t>
            </a:r>
            <a:endParaRPr lang="en-US" sz="106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4443738" y="1828800"/>
            <a:ext cx="342864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Man AHL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Described machine-learning systems traded in client portfolios since early 2014.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7909200" y="1828800"/>
            <a:ext cx="370332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BlackRock Systematic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Public materials describe systematic investing supported by large signal libraries and machine learning.</a:t>
            </a:r>
            <a:endParaRPr lang="en-US" sz="106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777240" y="3337560"/>
            <a:ext cx="5257440" cy="1271261"/>
          </a:xfrm>
          <a:prstGeom prst="roundRect">
            <a:avLst>
              <a:gd name="adj" fmla="val 4571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Why this became widely adopted in equities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Thousands of stocks allow the same prediction problem to be repeated across a large cross-section, creating many more training examples.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6309360" y="3337560"/>
            <a:ext cx="5257440" cy="1271261"/>
          </a:xfrm>
          <a:prstGeom prst="roundRect">
            <a:avLst>
              <a:gd name="adj" fmla="val 4571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Why applications have been more limited in FX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There are far fewer relatively independent instruments. Extending the history mixes market regimes; increasing model size raises overfitting risk.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1020960" y="5111216"/>
            <a:ext cx="10149480" cy="862843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With few independent instruments and a low signal-to-noise ratio, FX signal research still often relies on classical statistical prediction models with deliberately modest complexity.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Sources: Two Sigma: Deep Learning for Sequences in Quantitative Finance · Man AHL: The Rise of Machine Learning · BlackRock Systematic Investing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19580" y="2670175"/>
            <a:ext cx="2437765" cy="11252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Jump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Time-series forecasting, real-time inference, petabyte-scale data and predictive models connected to live trading.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5425440" y="2260600"/>
            <a:ext cx="2437765" cy="11252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HRT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learning is described as core to trading; HRT says AI models drive a significant fraction of trading.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9174480" y="2212340"/>
            <a:ext cx="2437765" cy="11252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Jane Street / XTX / Citadel Securities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materials link neural or machine-learning forecasts to trading, market making, pricing and research infrastructure.</a:t>
            </a:r>
            <a:endParaRPr lang="en-US" sz="11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resource commitment and business scale are no longer experimental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Jump Trading AI; CoreWeave/Jane Street AI cloud agreement, 15 Apr 2026; Lambda–HRT partnership; Bloomberg/Reuters revenue reporting; XTX TernFS and official releases.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475806" y="1051560"/>
            <a:ext cx="2176272" cy="297180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Jump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10,000+ compute nodes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5M+ simulations per day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Thousands of GPUs; model feedback in under 24 hours.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518" y="1051560"/>
            <a:ext cx="2176272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Jane Street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$6bn CoreWeave AI cloud commitment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$39.6bn 2025 net trading revenue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Strongest public revenue scale among the group.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11230" y="1051560"/>
            <a:ext cx="2176272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HRT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1,000+ Blackwell systems in one 2026 cloud agreement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~$12.3bn estimated 2025 trading revenue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models said to drive a significant fraction of trading.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278942" y="1051560"/>
            <a:ext cx="2176272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Citadel Securities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100+ researchers served by internal DL libraries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$12.2bn 2025 trading revenue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Production models expected to show P&amp;L, risk or cost impact.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9546654" y="1051560"/>
            <a:ext cx="2176272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XTX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50,000+ instruments forecast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$250bn+ daily traded volume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Tens of thousands of GPUs and exabyte-scale storage.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686" y="4663440"/>
            <a:ext cx="10835640" cy="658368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These are not clean “DNN P&amp;L attribution” numbers. They show that firms tying ML to trading now operate at industrial scale.</a:t>
            </a:r>
            <a:endParaRPr lang="en-US" sz="15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1" u="none" strike="noStrike" dirty="0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621720" y="132840"/>
            <a:ext cx="10423800" cy="11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“Give enough monkeys enough typewriters and enough time, and one will eventually write a Shakespeare sonnet.”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08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621720" y="6693480"/>
            <a:ext cx="30139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12739" y="124380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i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Or</a:t>
            </a:r>
            <a:r>
              <a:rPr lang="en-US" sz="1700" b="1" i="1" dirty="0">
                <a:solidFill>
                  <a:srgbClr val="E4002B"/>
                </a:solidFill>
                <a:latin typeface="Arial" panose="020B0604020202020204"/>
              </a:rPr>
              <a:t> </a:t>
            </a:r>
            <a:r>
              <a:rPr lang="en-US" sz="1700" b="1" i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a useful alpha formula.</a:t>
            </a:r>
            <a:endParaRPr lang="en-US" sz="1700" b="1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899967" y="1788300"/>
            <a:ext cx="8392066" cy="68544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But we do not have infinite time. We need to do more than just random generation.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1899966" y="2970099"/>
            <a:ext cx="3936237" cy="2114082"/>
          </a:xfrm>
          <a:prstGeom prst="roundRect">
            <a:avLst>
              <a:gd name="adj" fmla="val 6400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World Quant scaled with people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7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Crowdsourcing increased the number of researchers, ideas, formulas and experiments.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6033016" y="2970099"/>
            <a:ext cx="4259017" cy="2114082"/>
          </a:xfrm>
          <a:prstGeom prst="roundRect">
            <a:avLst>
              <a:gd name="adj" fmla="val 6400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LLMs help scaling with auto-research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7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They can help form hypotheses, implement tests, interpret feedback and reuse prior work.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The quotation is a common formulation of the Infinite Monkey Theorem, traced in its modern form to Émile Borel (1913) and later popularised by Arthur Eddington.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5289550"/>
            <a:ext cx="1024128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is hard to believe a platform producing tens of millions of alphas would remain purely human for long. The public evidence now points in that direction.</a:t>
            </a:r>
            <a:endParaRPr lang="en-US" sz="15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now says the AI-agent loop out loud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WorldQuant — “How AI broadens opportunities for all quant researchers,” 2026; WorldQuant BRAIN public pages.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31838" y="1188720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hypothesis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1810830" y="1881835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838" y="2064715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Implement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algorithm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1810830" y="2757830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838" y="2940710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simulation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810830" y="3633826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838" y="3816706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feedback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1810830" y="4509821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838" y="4692701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Iterate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idea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3703638" y="1234440"/>
            <a:ext cx="7498080" cy="87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changed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now publicly describes AI agents in a quantitative research loop: generating hypotheses, turning them into algorithms, simulating, evaluating feedback and iterating.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3703638" y="2215896"/>
            <a:ext cx="7498080" cy="87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is not just chatbot assistance. It is a public articulation of agent-assisted alpha research, connected to a simulation platform.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3703638" y="3197352"/>
            <a:ext cx="7498080" cy="871728"/>
          </a:xfrm>
          <a:prstGeom prst="rect">
            <a:avLst/>
          </a:prstGeom>
          <a:solidFill>
            <a:srgbClr val="FFE5EE"/>
          </a:solidFill>
          <a:ln w="12700">
            <a:solidFill>
              <a:srgbClr val="FFC7D7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Boundary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does not disclose its internal production system. Public BRAIN remains the visible sandbox and research funnel.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3703638" y="4754880"/>
            <a:ext cx="7498080" cy="530352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key link is agent output plus simulator feedback. That is exactly the loop we want to test in FX.</a:t>
            </a:r>
            <a:endParaRPr lang="en-US" sz="15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has the public symbolic-alpha environment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WorldQuant IQC 2026 Guidelines; BRAIN Consultant Program; International Quant Championship 2026 public competition page.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622110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22817" y="1524122"/>
            <a:ext cx="201168" cy="225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78849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79556" y="1524122"/>
            <a:ext cx="201168" cy="225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35588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Historical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6296" y="1524122"/>
            <a:ext cx="201168" cy="225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92328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93035" y="1524122"/>
            <a:ext cx="201168" cy="225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9067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Score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6118" y="2606040"/>
            <a:ext cx="3489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Visible environment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Researchers submit formulaic alphas to a standardized public platform. The platform returns scores, grades and acceptance conditions under shared rules.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58958" y="2606040"/>
            <a:ext cx="3489960" cy="182880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should copy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the equity universe, and not their exact formula language. Copy the core structure: bounded expression → simulator → score → review → next attempt.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31798" y="2606040"/>
            <a:ext cx="3489960" cy="1828800"/>
          </a:xfrm>
          <a:prstGeom prst="rect">
            <a:avLst/>
          </a:prstGeom>
          <a:solidFill>
            <a:srgbClr val="FFE5EE"/>
          </a:solidFill>
          <a:ln w="12700">
            <a:solidFill>
              <a:srgbClr val="FFC7D7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should not assume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BRAIN results do not transfer automatically to FX, high-frequency data, Java CEP implementation, or our order lifecycle semantics.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550" y="5074920"/>
            <a:ext cx="10744200" cy="493776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proves that symbolic alpha work can be standardized around a simulator. Our problem is to adapt the pattern to our market and infrastructure.</a:t>
            </a:r>
            <a:endParaRPr lang="en-US" sz="14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AgonAlpha put the idea on WorldQuant BRAIN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7246" y="960120"/>
            <a:ext cx="10789920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Independent research team · 4 Aug 2026 preprint.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25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Ye, Sun, Ren, Yu, Yi &amp; Yang — “AgonAlpha: Autonomous Alpha Discovery via Prompt Economy and Scalable Agentic Search,” arXiv:2608.11250, 4 Aug 2026.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40398" y="1325880"/>
            <a:ext cx="10927080" cy="749808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AgonAlpha searches over frozen research artifacts — hypothesis, executable expression, platform evidence, rationale and review status — rather than treating each formula as a disposable prompt output.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32038" y="2468880"/>
            <a:ext cx="22920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8998" y="2748686"/>
            <a:ext cx="201168" cy="2176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5030" y="2468880"/>
            <a:ext cx="22920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Fresh-context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81990" y="2748686"/>
            <a:ext cx="201168" cy="2176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38022" y="2468880"/>
            <a:ext cx="22920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Pending-aware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3278" y="3611880"/>
            <a:ext cx="5166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Simulator discipline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reviewer can re-run BRAIN simulation and veto unsupported claims. BRAIN — not the model’s opinion — supplies the score.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6218238" y="3611880"/>
            <a:ext cx="5166360" cy="1207008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Reported run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independent users · 6 model backends · 60 submitted alphas · 17 SPECTACULAR grades · best Sharpe 3.48 · best Fitness 9.50.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823278" y="5166360"/>
            <a:ext cx="105613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useful precedent is not the headline grade. It is the artifact loop: propose, simulate, review, schedule the next attempt.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now says the AI-agent loop out loud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WorldQuant — “How AI broadens opportunities for all quant researchers,” 2026; WorldQuant BRAIN public pages.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31838" y="1188720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hypothesis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1810830" y="1881835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838" y="2064715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Implement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algorithm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1810830" y="2757830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838" y="2940710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simulation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810830" y="3633826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838" y="3816706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feedback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1810830" y="4509821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838" y="4692701"/>
            <a:ext cx="2377440" cy="656539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Iterate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idea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3703638" y="1234440"/>
            <a:ext cx="7498080" cy="87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changed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now publicly describes AI agents in a quantitative research loop: generating hypotheses, turning them into algorithms, simulating, evaluating feedback and iterating.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3703638" y="2215896"/>
            <a:ext cx="7498080" cy="87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is not just chatbot assistance. It is a public articulation of agent-assisted alpha research, connected to a simulation platform.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3703638" y="3197352"/>
            <a:ext cx="7498080" cy="871728"/>
          </a:xfrm>
          <a:prstGeom prst="rect">
            <a:avLst/>
          </a:prstGeom>
          <a:solidFill>
            <a:srgbClr val="FFE5EE"/>
          </a:solidFill>
          <a:ln w="12700">
            <a:solidFill>
              <a:srgbClr val="FFC7D7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Boundary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does not disclose its internal production system. Public BRAIN remains the visible sandbox and research funnel.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3703638" y="4754880"/>
            <a:ext cx="7498080" cy="530352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key link is agent output plus simulator feedback. That is exactly the loop we want to test in FX.</a:t>
            </a:r>
            <a:endParaRPr lang="en-US" sz="15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has the public symbolic-alpha environment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WorldQuant IQC 2026 Guidelines; BRAIN Consultant Program; International Quant Championship 2026 public competition page.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622110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22817" y="1524122"/>
            <a:ext cx="201168" cy="225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78849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79556" y="1524122"/>
            <a:ext cx="201168" cy="225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35588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Historical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6296" y="1524122"/>
            <a:ext cx="201168" cy="225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92328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93035" y="1524122"/>
            <a:ext cx="201168" cy="225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9067" y="1234440"/>
            <a:ext cx="1945843" cy="80467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Score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6118" y="2606040"/>
            <a:ext cx="3489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Visible environment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Researchers submit formulaic alphas to a standardized public platform. The platform returns scores, grades and acceptance conditions under shared rules.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58958" y="2606040"/>
            <a:ext cx="3489960" cy="182880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should copy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the equity universe, and not their exact formula language. Copy the core structure: bounded expression → simulator → score → review → next attempt.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31798" y="2606040"/>
            <a:ext cx="3489960" cy="1828800"/>
          </a:xfrm>
          <a:prstGeom prst="rect">
            <a:avLst/>
          </a:prstGeom>
          <a:solidFill>
            <a:srgbClr val="FFE5EE"/>
          </a:solidFill>
          <a:ln w="12700">
            <a:solidFill>
              <a:srgbClr val="FFC7D7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should not assume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BRAIN results do not transfer automatically to FX, high-frequency data, Java CEP implementation, or our order lifecycle semantics.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550" y="5074920"/>
            <a:ext cx="10744200" cy="493776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proves that symbolic alpha work can be standardized around a simulator. Our problem is to adapt the pattern to our market and infrastructure.</a:t>
            </a:r>
            <a:endParaRPr lang="en-US" sz="14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AgonAlpha put the idea on WorldQuant BRAIN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7246" y="960120"/>
            <a:ext cx="10789920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Independent research team · 4 Aug 2026 preprint.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25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Ye, Sun, Ren, Yu, Yi &amp; Yang — “AgonAlpha: Autonomous Alpha Discovery via Prompt Economy and Scalable Agentic Search,” arXiv:2608.11250, 4 Aug 2026.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40398" y="1325880"/>
            <a:ext cx="10927080" cy="749808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AgonAlpha searches over frozen research artifacts — hypothesis, executable expression, platform evidence, rationale and review status — rather than treating each formula as a disposable prompt output.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32038" y="2468880"/>
            <a:ext cx="22920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8998" y="2748686"/>
            <a:ext cx="201168" cy="2176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5030" y="2468880"/>
            <a:ext cx="22920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Fresh-context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81990" y="2748686"/>
            <a:ext cx="201168" cy="2176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38022" y="2468880"/>
            <a:ext cx="22920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Pending-aware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3278" y="3611880"/>
            <a:ext cx="5166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Simulator discipline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reviewer can re-run BRAIN simulation and veto unsupported claims. BRAIN — not the model’s opinion — supplies the score.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6218238" y="3611880"/>
            <a:ext cx="5166360" cy="1207008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Reported run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independent users · 6 model backends · 60 submitted alphas · 17 SPECTACULAR grades · best Sharpe 3.48 · best Fitness 9.50.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823278" y="5166360"/>
            <a:ext cx="105613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useful precedent is not the headline grade. It is the artifact loop: propose, simulate, review, schedule the next attempt.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this gives us confidence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WorldQuant BRAIN public programme and IQC 2026 rules; Ye et al., AgonAlpha, 4 Aug 2026.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567246" y="1143000"/>
            <a:ext cx="5449824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lowers the first uncertainty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Symbolic alpha research can be standardised, simulated and scaled. This is no longer a philosophical debate.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81662" y="1143000"/>
            <a:ext cx="5449824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AgonAlpha lowers the second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LLMs can be connected to a real external alpha simulator and produce a public trail of hypotheses, expressions, evidence and review.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7246" y="2596896"/>
            <a:ext cx="5449824" cy="1289304"/>
          </a:xfrm>
          <a:prstGeom prst="rect">
            <a:avLst/>
          </a:prstGeom>
          <a:solidFill>
            <a:srgbClr val="FFE5EE"/>
          </a:solidFill>
          <a:ln w="12700">
            <a:solidFill>
              <a:srgbClr val="FFC7D7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But transfer is not proven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BRAIN results do not prove FX performance, production P&amp;L, venue-level execution, or Java CEP implementation reliability.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81662" y="2596896"/>
            <a:ext cx="5449824" cy="1289304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That is the opening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are not trying to be first. We are adapting a visible research model to our own simulator and FX data.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718" y="4709160"/>
            <a:ext cx="10332720" cy="59436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are later than WorldQuant. That is useful: someone has already lowered the biggest uncertainty.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Academic work has been assembling the same machine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AutoAlpha, 2020; AlphaGen, KDD 2023; Alpha-GPT, 2023/2024; Microsoft R&amp;D-Agent-Quant, NeurIPS 2025; AlphaBench, ICLR 2026; AgonAlpha, 2026.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503238" y="1143000"/>
            <a:ext cx="21671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2020 — AutoAlpha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Hierarchical evolutionary search over formulaic alphas.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61806" y="1143000"/>
            <a:ext cx="21671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2023 — AlphaGen / Alpha-GPT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Portfolio-aware reinforcement learning; human-to-expression interaction.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20374" y="1143000"/>
            <a:ext cx="21671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2024 — FAMA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Diversity control and experience carried into the next attempt.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278942" y="1143000"/>
            <a:ext cx="21671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2025 — AlphaAgent / R&amp;D-Agent(Q)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Complexity control; hypothesis-to-code-to-feedback research loops.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537510" y="1143000"/>
            <a:ext cx="2167128" cy="196596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 — AlphaBench / AgonAlpha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Benchmarks, artifact-level search, re-execution and stronger evidence trails.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23278" y="4069080"/>
            <a:ext cx="10515600" cy="68580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field has moved from “generate a formula” to “generate, test, preserve evidence and search again.”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AlphaBench is the useful reality check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Haochen Luo et al. — “AlphaBench: Benchmarking Large Language Models in Formulaic Alpha Factor Mining,” ICLR, 2026; AlphaBench project page.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567246" y="1234440"/>
            <a:ext cx="26563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LLMs can write valid expressions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models usually produce syntax that runs.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69882" y="1234440"/>
            <a:ext cx="26563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Complexity hurts accuracy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 instructions and expression structure become more complex, the generated formula is less likely to match the intended idea.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518" y="1234440"/>
            <a:ext cx="26563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LLMs are weak alpha judges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Without backtest evidence, models struggle to tell whether an expression is actually useful.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75154" y="1234440"/>
            <a:ext cx="2656332" cy="256032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policy matters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Population and evolutionary search are a better public starting point than one long refinement chain.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878" y="4572000"/>
            <a:ext cx="10058400" cy="64008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Let the model propose what to try. Let the compiler and simulator decide what worked.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starting point is familiar: we also have the simulator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40398" y="1234440"/>
            <a:ext cx="350824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already have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KDB data, a Java CEP graph framework, a compiler, historical replay, and a simulator that can cover the order lifecycle — not just price bars.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9814" y="1234440"/>
            <a:ext cx="350824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improves with resources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With more data and engineering resource, the simulator can become more precise, just as it has at the firms we studied.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59230" y="1234440"/>
            <a:ext cx="3508248" cy="228600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should test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 an LLM design a compact FX alpha, express it as Java node code, let our simulator judge it, learn from the result, and change the next design?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0126" y="4389120"/>
            <a:ext cx="10698480" cy="68580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are not starting from a blank page. We are plugging a generator into a simulator we already trust.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 experiment: connect the generator to the simulator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94678" y="1005840"/>
            <a:ext cx="4114800" cy="51990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objective + 3–5 Knowledge Cards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42350" y="15623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678" y="1745198"/>
            <a:ext cx="4114800" cy="51990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Alpha Designer: thesis + GeneratedAlphaNode.java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42350" y="2301675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678" y="2484555"/>
            <a:ext cx="4114800" cy="51990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Compiler: diagnostics and bounded repair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42350" y="3041033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678" y="3223913"/>
            <a:ext cx="4114800" cy="51990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Existing Java CEP simulator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42350" y="3780391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678" y="3963271"/>
            <a:ext cx="4114800" cy="51990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Deterministic Evidence Pack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42350" y="4519749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678" y="4702629"/>
            <a:ext cx="4114800" cy="51990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Analyst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42350" y="5259106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678" y="5441986"/>
            <a:ext cx="4114800" cy="519902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Knowledge Card → next Alpha design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66678" y="1234440"/>
            <a:ext cx="6263640" cy="911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Logical roles, not a large agent system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Designer and Analyst are logical roles. Version one can use one model with two short prompts.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5166678" y="2310384"/>
            <a:ext cx="6263640" cy="911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 of the first experiment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Thesis, Java node, compiler result, simulator evidence, conclusion and a Knowledge Card for the next design.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5166678" y="3386328"/>
            <a:ext cx="6263640" cy="911352"/>
          </a:xfrm>
          <a:prstGeom prst="rect">
            <a:avLst/>
          </a:prstGeom>
          <a:solidFill>
            <a:srgbClr val="FFE5EE"/>
          </a:solidFill>
          <a:ln w="12700">
            <a:solidFill>
              <a:srgbClr val="FFC7D7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Production boundary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warranted, the result goes only to Alpha Bank follow-up and the existing human review / shadow process.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166678" y="4800600"/>
            <a:ext cx="6263640" cy="59436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first experiment tests one controlled loop, not a platform, agent swarm or autonomous trader.</a:t>
            </a:r>
            <a:endParaRPr lang="en-US" sz="15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simulator stays in charge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94678" y="1097280"/>
            <a:ext cx="35234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 node code is native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model writes a bounded node that expresses the alpha equation, embeds it in the existing graph and calls the existing compiler.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4319334" y="1097280"/>
            <a:ext cx="3523488" cy="224028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simulator is the authority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Java CEP simulator supplies event ordering, order lifecycle behaviour, fills, execution reports, costs and evidence that later research must accept.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8043990" y="1097280"/>
            <a:ext cx="35234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 from a known-good state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Make one small change, compile immediately, simulate it, repair at most twice, then roll back if the implementation is still broken.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079310" y="3977640"/>
            <a:ext cx="2269998" cy="77724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KDB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3404172" y="4257446"/>
            <a:ext cx="201168" cy="2176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60204" y="3977640"/>
            <a:ext cx="2269998" cy="77724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Generated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 node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5985066" y="4257446"/>
            <a:ext cx="201168" cy="2176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41098" y="3977640"/>
            <a:ext cx="2269998" cy="77724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Compiler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8565960" y="4257446"/>
            <a:ext cx="201168" cy="2176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21992" y="3977640"/>
            <a:ext cx="2269998" cy="777240"/>
          </a:xfrm>
          <a:prstGeom prst="rect">
            <a:avLst/>
          </a:prstGeom>
          <a:solidFill>
            <a:srgbClr val="EAF6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Authoritative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 CEP simulator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823278" y="5212080"/>
            <a:ext cx="10515600" cy="512064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new DSL, no new simulator, no agent swarm. The first version tests one controlled loop.</a:t>
            </a:r>
            <a:endParaRPr lang="en-US" sz="16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different about our first step?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1078992"/>
            <a:ext cx="5458968" cy="20071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Citadel, HRT, Jump, Jane Street, XTX</a:t>
            </a:r>
            <a:endParaRPr lang="en-US" sz="990" dirty="0"/>
          </a:p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show LLMs entering research assistance, coding, monitoring and textual signals, while numerical ML/DNN remains the production forecast engine.</a:t>
            </a:r>
            <a:endParaRPr lang="en-US" sz="990" dirty="0"/>
          </a:p>
          <a:p>
            <a:pPr marL="0" indent="0" algn="l">
              <a:buNone/>
            </a:pPr>
            <a:endParaRPr lang="en-US" sz="990" dirty="0"/>
          </a:p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test a narrower but more automated loop: LLM designs the alpha, code compiles, the simulator judges, and the next alpha must change.</a:t>
            </a:r>
            <a:endParaRPr lang="en-US" sz="990" dirty="0"/>
          </a:p>
        </p:txBody>
      </p:sp>
      <p:sp>
        <p:nvSpPr>
          <p:cNvPr id="7" name="Text 5"/>
          <p:cNvSpPr/>
          <p:nvPr/>
        </p:nvSpPr>
        <p:spPr>
          <a:xfrm>
            <a:off x="6172518" y="1078992"/>
            <a:ext cx="5458968" cy="2007108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/ BRAIN</a:t>
            </a:r>
            <a:endParaRPr lang="en-US" sz="990" dirty="0"/>
          </a:p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show symbolic alpha research can be standardised and scaled around a shared simulator.</a:t>
            </a:r>
            <a:endParaRPr lang="en-US" sz="990" dirty="0"/>
          </a:p>
          <a:p>
            <a:pPr marL="0" indent="0" algn="l">
              <a:buNone/>
            </a:pPr>
            <a:endParaRPr lang="en-US" sz="990" dirty="0"/>
          </a:p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work in institutional FX, not a public equity-position sandbox. Our simulator can model more of the order lifecycle and high-frequency market events.</a:t>
            </a:r>
            <a:endParaRPr lang="en-US" sz="990" dirty="0"/>
          </a:p>
        </p:txBody>
      </p:sp>
      <p:sp>
        <p:nvSpPr>
          <p:cNvPr id="8" name="Text 6"/>
          <p:cNvSpPr/>
          <p:nvPr/>
        </p:nvSpPr>
        <p:spPr>
          <a:xfrm>
            <a:off x="567246" y="3232404"/>
            <a:ext cx="5458968" cy="20071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AgonAlpha</a:t>
            </a:r>
            <a:endParaRPr lang="en-US" sz="990" dirty="0"/>
          </a:p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shows an agent can search BRAIN artifacts, call the platform simulator and manage competing lineages.</a:t>
            </a:r>
            <a:endParaRPr lang="en-US" sz="990" dirty="0"/>
          </a:p>
          <a:p>
            <a:pPr marL="0" indent="0" algn="l">
              <a:buNone/>
            </a:pPr>
            <a:endParaRPr lang="en-US" sz="990" dirty="0"/>
          </a:p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start smaller: two generations only, with compiler diagnostics, Java CEP node code and our simulator as the evidence source.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6172518" y="3232404"/>
            <a:ext cx="5458968" cy="20071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Academic papers</a:t>
            </a:r>
            <a:endParaRPr lang="en-US" sz="990" dirty="0"/>
          </a:p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show LLMs can generate expressions, use feedback, search lineages and store experience.</a:t>
            </a:r>
            <a:endParaRPr lang="en-US" sz="990" dirty="0"/>
          </a:p>
          <a:p>
            <a:pPr marL="0" indent="0" algn="l">
              <a:buNone/>
            </a:pPr>
            <a:endParaRPr lang="en-US" sz="990" dirty="0"/>
          </a:p>
          <a:p>
            <a:pPr marL="0" indent="0" algn="l">
              <a:buNone/>
            </a:pPr>
            <a:r>
              <a:rPr lang="en-US" sz="99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require simulator-backed evidence under real internal execution semantics, not only author-controlled academic backtests.</a:t>
            </a:r>
            <a:endParaRPr lang="en-US" sz="990" dirty="0"/>
          </a:p>
        </p:txBody>
      </p:sp>
      <p:sp>
        <p:nvSpPr>
          <p:cNvPr id="10" name="Text 8"/>
          <p:cNvSpPr/>
          <p:nvPr/>
        </p:nvSpPr>
        <p:spPr>
          <a:xfrm>
            <a:off x="686118" y="5577840"/>
            <a:ext cx="10789920" cy="45720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innovative part is not claiming to be first. It is bringing the proven pieces into our FX simulator, one controlled loop at a time.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we should judge the first experiment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67246" y="6199632"/>
            <a:ext cx="9875520" cy="329184"/>
          </a:xfrm>
          <a:prstGeom prst="rect">
            <a:avLst/>
          </a:prstGeom>
          <a:noFill/>
        </p:spPr>
        <p:txBody>
          <a:bodyPr wrap="square" lIns="254" tIns="254" rIns="254" bIns="254" rtlCol="0" anchor="b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3164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evidence: Haochen Luo et al. — “AlphaBench,” ICLR, 2026.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567246" y="1143000"/>
            <a:ext cx="267004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Compile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Did the generated Java node compile with bounded repair?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3365310" y="1143000"/>
            <a:ext cx="267004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Simulate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Did the simulator produce reproducible evidence under fixed data and costs?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163374" y="1143000"/>
            <a:ext cx="267004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Did the Knowledge Card correctly capture what the evidence showed?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8961438" y="1143000"/>
            <a:ext cx="2670048" cy="141732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Change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Did the next alpha reuse, avoid or modify something because of K0?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841566" y="3246120"/>
            <a:ext cx="51435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the alpha simple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AlphaBench makes this point clearly: LLM expression accuracy falls as instructions and formula structure become more complex.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3666" y="3246120"/>
            <a:ext cx="51435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trust the model’s opinion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simulator, fixed statistics and human review decide. The LLM can explain evidence and propose the next test, but it does not grade its own alpha.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478" y="5074920"/>
            <a:ext cx="9555480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005BAC"/>
            </a:solidFill>
          </a:ln>
        </p:spPr>
        <p:txBody>
          <a:bodyPr wrap="square" lIns="1397" tIns="1397" rIns="1397" bIns="1397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failed alpha can still be a successful experiment if it makes the next attempt smarter.</a:t>
            </a:r>
            <a:endParaRPr lang="en-US" sz="18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8290353" cy="9144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671" y="0"/>
            <a:ext cx="3901342" cy="9144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7246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25646" y="651967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05B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 / 25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686" y="1234440"/>
            <a:ext cx="3493008" cy="2240280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Approve one bounded simulator-connected experiment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 one real FX objective through two generations using the existing KDB, compiler and Java CEP simulator.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4352862" y="1234440"/>
            <a:ext cx="349300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Judge the loop, not a headline Sharpe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Measure compile success, time to usable conclusion, evidence quality and whether the second design uses the first result intelligently.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8047038" y="1234440"/>
            <a:ext cx="349300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Stop if it does not work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0B47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the loop cannot produce reproducible evidence and a better-informed follow-up, redesign it before adding scale or complexity.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77558" y="3977640"/>
            <a:ext cx="10607040" cy="68580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4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WorldQuant gives us confidence. Simulation gives us discipline. Our first job is to close one honest generator–simulator–learning loop in FX.</a:t>
            </a:r>
            <a:endParaRPr lang="en-US" sz="1840" dirty="0"/>
          </a:p>
        </p:txBody>
      </p:sp>
      <p:sp>
        <p:nvSpPr>
          <p:cNvPr id="10" name="Text 8"/>
          <p:cNvSpPr/>
          <p:nvPr/>
        </p:nvSpPr>
        <p:spPr>
          <a:xfrm>
            <a:off x="1143318" y="4983480"/>
            <a:ext cx="9875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03A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first practical output is an FX signal candidate for the existing human review and shadow process — not an autonomous production decision.</a:t>
            </a:r>
            <a:endParaRPr lang="en-US" sz="14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600" y="36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How one research campaign runs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21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9" name="Shape 5"/>
          <p:cNvSpPr/>
          <p:nvPr/>
        </p:nvSpPr>
        <p:spPr>
          <a:xfrm>
            <a:off x="621720" y="6693480"/>
            <a:ext cx="79124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929592" y="1250145"/>
            <a:ext cx="2194200" cy="731160"/>
          </a:xfrm>
          <a:prstGeom prst="roundRect">
            <a:avLst>
              <a:gd name="adj" fmla="val 10000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Human </a:t>
            </a:r>
            <a:r>
              <a:rPr lang="en-US" sz="1200" b="1" dirty="0">
                <a:solidFill>
                  <a:srgbClr val="0B477D"/>
                </a:solidFill>
                <a:ea typeface="Arial" panose="020B0604020202020204"/>
              </a:rPr>
              <a:t>prompts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Trader observations</a:t>
            </a:r>
            <a:endParaRPr lang="en-US" sz="120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Research priorities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929592" y="2177251"/>
            <a:ext cx="2227320" cy="880573"/>
          </a:xfrm>
          <a:prstGeom prst="roundRect">
            <a:avLst>
              <a:gd name="adj" fmla="val 10000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 Library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Research </a:t>
            </a:r>
            <a:r>
              <a:rPr lang="en-US" sz="1200" dirty="0">
                <a:solidFill>
                  <a:srgbClr val="0B477D"/>
                </a:solidFill>
                <a:latin typeface="Arial" panose="020B0604020202020204"/>
                <a:ea typeface="Arial" panose="020B0604020202020204"/>
              </a:rPr>
              <a:t>knowledge base 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2" name="Text 8"/>
          <p:cNvSpPr/>
          <p:nvPr/>
        </p:nvSpPr>
        <p:spPr>
          <a:xfrm>
            <a:off x="962892" y="3231704"/>
            <a:ext cx="219420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Alpha Bank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Tested alpha thesis and performances</a:t>
            </a:r>
            <a:endParaRPr lang="en-US" sz="1200" u="none" strike="noStrike" dirty="0">
              <a:solidFill>
                <a:srgbClr val="005BAC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3" name="Text 9"/>
          <p:cNvSpPr/>
          <p:nvPr/>
        </p:nvSpPr>
        <p:spPr>
          <a:xfrm>
            <a:off x="3906252" y="2287089"/>
            <a:ext cx="1554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Signal idea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generation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5838216" y="2991045"/>
            <a:ext cx="150840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Thesis, target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horizon and data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8033432" y="2987287"/>
            <a:ext cx="1965734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Implementation Agent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0" name="Text 16"/>
          <p:cNvSpPr/>
          <p:nvPr/>
        </p:nvSpPr>
        <p:spPr>
          <a:xfrm>
            <a:off x="9428352" y="4126008"/>
            <a:ext cx="150840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Backtest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1" name="Text 17"/>
          <p:cNvSpPr/>
          <p:nvPr/>
        </p:nvSpPr>
        <p:spPr>
          <a:xfrm>
            <a:off x="6269140" y="4135515"/>
            <a:ext cx="2335106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Evidence and Conclusion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2" name="Text 18"/>
          <p:cNvSpPr/>
          <p:nvPr/>
        </p:nvSpPr>
        <p:spPr>
          <a:xfrm>
            <a:off x="3357027" y="4130505"/>
            <a:ext cx="2447371" cy="639720"/>
          </a:xfrm>
          <a:prstGeom prst="roundRect">
            <a:avLst>
              <a:gd name="adj" fmla="val 11429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Update institutional knowledge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3" name="Text 29"/>
          <p:cNvSpPr/>
          <p:nvPr/>
        </p:nvSpPr>
        <p:spPr>
          <a:xfrm>
            <a:off x="621720" y="5349240"/>
            <a:ext cx="11127960" cy="720056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Agents raise questions when data, API or implementation details are unclear.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B477D"/>
                </a:solidFill>
                <a:latin typeface="Arial" panose="020B0604020202020204"/>
                <a:ea typeface="Arial" panose="020B0604020202020204"/>
              </a:rPr>
              <a:t>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he acquired knowledge is added to implementation memory. 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</p:txBody>
      </p:sp>
      <p:cxnSp>
        <p:nvCxnSpPr>
          <p:cNvPr id="3" name="Connector: Elbow 2"/>
          <p:cNvCxnSpPr>
            <a:stCxn id="330" idx="3"/>
            <a:endCxn id="333" idx="0"/>
          </p:cNvCxnSpPr>
          <p:nvPr/>
        </p:nvCxnSpPr>
        <p:spPr>
          <a:xfrm>
            <a:off x="3123792" y="1615725"/>
            <a:ext cx="1559520" cy="671364"/>
          </a:xfrm>
          <a:prstGeom prst="bentConnector2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331" idx="3"/>
            <a:endCxn id="333" idx="1"/>
          </p:cNvCxnSpPr>
          <p:nvPr/>
        </p:nvCxnSpPr>
        <p:spPr>
          <a:xfrm flipV="1">
            <a:off x="3156912" y="2606949"/>
            <a:ext cx="749340" cy="10589"/>
          </a:xfrm>
          <a:prstGeom prst="straightConnector1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/>
          <p:cNvCxnSpPr>
            <a:stCxn id="332" idx="3"/>
            <a:endCxn id="333" idx="2"/>
          </p:cNvCxnSpPr>
          <p:nvPr/>
        </p:nvCxnSpPr>
        <p:spPr>
          <a:xfrm flipV="1">
            <a:off x="3157092" y="2926809"/>
            <a:ext cx="1526220" cy="670475"/>
          </a:xfrm>
          <a:prstGeom prst="bentConnector2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/>
          <p:cNvCxnSpPr>
            <a:stCxn id="342" idx="1"/>
            <a:endCxn id="332" idx="2"/>
          </p:cNvCxnSpPr>
          <p:nvPr/>
        </p:nvCxnSpPr>
        <p:spPr>
          <a:xfrm rot="10800000">
            <a:off x="2059993" y="3962865"/>
            <a:ext cx="1297035" cy="487501"/>
          </a:xfrm>
          <a:prstGeom prst="bentConnector2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/>
          <p:cNvCxnSpPr>
            <a:stCxn id="342" idx="2"/>
            <a:endCxn id="331" idx="1"/>
          </p:cNvCxnSpPr>
          <p:nvPr/>
        </p:nvCxnSpPr>
        <p:spPr>
          <a:xfrm rot="5400000" flipH="1">
            <a:off x="1678809" y="1868322"/>
            <a:ext cx="2152687" cy="3651121"/>
          </a:xfrm>
          <a:prstGeom prst="bentConnector4">
            <a:avLst>
              <a:gd name="adj1" fmla="val -10619"/>
              <a:gd name="adj2" fmla="val 106261"/>
            </a:avLst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341" idx="1"/>
            <a:endCxn id="342" idx="3"/>
          </p:cNvCxnSpPr>
          <p:nvPr/>
        </p:nvCxnSpPr>
        <p:spPr>
          <a:xfrm flipH="1" flipV="1">
            <a:off x="5804398" y="4450365"/>
            <a:ext cx="464742" cy="5010"/>
          </a:xfrm>
          <a:prstGeom prst="straightConnector1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40" idx="1"/>
            <a:endCxn id="341" idx="3"/>
          </p:cNvCxnSpPr>
          <p:nvPr/>
        </p:nvCxnSpPr>
        <p:spPr>
          <a:xfrm flipH="1">
            <a:off x="8604246" y="4445868"/>
            <a:ext cx="824106" cy="9507"/>
          </a:xfrm>
          <a:prstGeom prst="straightConnector1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/>
          <p:cNvCxnSpPr>
            <a:stCxn id="337" idx="3"/>
            <a:endCxn id="339" idx="1"/>
          </p:cNvCxnSpPr>
          <p:nvPr/>
        </p:nvCxnSpPr>
        <p:spPr>
          <a:xfrm flipV="1">
            <a:off x="7346616" y="3307147"/>
            <a:ext cx="686816" cy="3758"/>
          </a:xfrm>
          <a:prstGeom prst="straightConnector1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Text 6"/>
          <p:cNvSpPr/>
          <p:nvPr/>
        </p:nvSpPr>
        <p:spPr>
          <a:xfrm>
            <a:off x="9392652" y="1273228"/>
            <a:ext cx="2194200" cy="731160"/>
          </a:xfrm>
          <a:prstGeom prst="roundRect">
            <a:avLst>
              <a:gd name="adj" fmla="val 10000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05BAC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Human </a:t>
            </a:r>
            <a:r>
              <a:rPr lang="en-US" sz="1200" b="1" dirty="0">
                <a:solidFill>
                  <a:srgbClr val="005BAC"/>
                </a:solidFill>
                <a:ea typeface="Arial" panose="020B0604020202020204"/>
              </a:rPr>
              <a:t>Answers</a:t>
            </a:r>
            <a:endParaRPr lang="en-US" sz="1200" b="1" u="none" strike="noStrike" dirty="0">
              <a:solidFill>
                <a:srgbClr val="005BAC"/>
              </a:solidFill>
              <a:effectLst/>
              <a:uFillTx/>
              <a:latin typeface="Arial" panose="020B0604020202020204"/>
            </a:endParaRPr>
          </a:p>
          <a:p>
            <a:pPr algn="ctr"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Java</a:t>
            </a:r>
            <a:r>
              <a:rPr lang="en-US" sz="1200" dirty="0">
                <a:solidFill>
                  <a:srgbClr val="005BAC"/>
                </a:solidFill>
              </a:rPr>
              <a:t>, Q, Database</a:t>
            </a:r>
            <a:endParaRPr lang="en-US" sz="1200" u="none" strike="noStrike" dirty="0">
              <a:solidFill>
                <a:srgbClr val="005BAC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7" name="Text 7"/>
          <p:cNvSpPr/>
          <p:nvPr/>
        </p:nvSpPr>
        <p:spPr>
          <a:xfrm>
            <a:off x="6242100" y="1323621"/>
            <a:ext cx="1621380" cy="639720"/>
          </a:xfrm>
          <a:prstGeom prst="roundRect">
            <a:avLst>
              <a:gd name="adj" fmla="val 10000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1200" dirty="0">
                <a:solidFill>
                  <a:srgbClr val="0B477D"/>
                </a:solidFill>
                <a:ea typeface="Arial" panose="020B0604020202020204"/>
              </a:rPr>
              <a:t>Implementation Knowledge base</a:t>
            </a: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428" name="Connector: Elbow 427"/>
          <p:cNvCxnSpPr>
            <a:stCxn id="427" idx="2"/>
            <a:endCxn id="339" idx="0"/>
          </p:cNvCxnSpPr>
          <p:nvPr/>
        </p:nvCxnSpPr>
        <p:spPr>
          <a:xfrm rot="16200000" flipH="1">
            <a:off x="7522571" y="1493559"/>
            <a:ext cx="1023946" cy="1963509"/>
          </a:xfrm>
          <a:prstGeom prst="bentConnector3">
            <a:avLst>
              <a:gd name="adj1" fmla="val 50000"/>
            </a:avLst>
          </a:prstGeom>
          <a:ln w="12700">
            <a:solidFill>
              <a:srgbClr val="005BAC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: Elbow 439"/>
          <p:cNvCxnSpPr>
            <a:stCxn id="406" idx="2"/>
            <a:endCxn id="339" idx="3"/>
          </p:cNvCxnSpPr>
          <p:nvPr/>
        </p:nvCxnSpPr>
        <p:spPr>
          <a:xfrm rot="5400000">
            <a:off x="9593080" y="2410474"/>
            <a:ext cx="1302759" cy="490586"/>
          </a:xfrm>
          <a:prstGeom prst="bentConnector2">
            <a:avLst/>
          </a:prstGeom>
          <a:ln w="12700">
            <a:solidFill>
              <a:srgbClr val="005BAC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: Elbow 445"/>
          <p:cNvCxnSpPr>
            <a:stCxn id="339" idx="2"/>
            <a:endCxn id="340" idx="0"/>
          </p:cNvCxnSpPr>
          <p:nvPr/>
        </p:nvCxnSpPr>
        <p:spPr>
          <a:xfrm rot="16200000" flipH="1">
            <a:off x="9349925" y="3293380"/>
            <a:ext cx="499001" cy="1166253"/>
          </a:xfrm>
          <a:prstGeom prst="bentConnector3">
            <a:avLst>
              <a:gd name="adj1" fmla="val 50000"/>
            </a:avLst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: Elbow 448"/>
          <p:cNvCxnSpPr>
            <a:stCxn id="333" idx="3"/>
            <a:endCxn id="337" idx="0"/>
          </p:cNvCxnSpPr>
          <p:nvPr/>
        </p:nvCxnSpPr>
        <p:spPr>
          <a:xfrm>
            <a:off x="5460372" y="2606949"/>
            <a:ext cx="1132044" cy="384096"/>
          </a:xfrm>
          <a:prstGeom prst="bentConnector2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AlphaForge and AlphaAgent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09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621720" y="6693480"/>
            <a:ext cx="33908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68580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 Forge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University of Chinese Academy of Sciences-led team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Proceedings of the AAAI Conference on Artificial Intelligence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April 2025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Earlier formula-mining systems could produce factors, but fixed combinations did not adapt well as factor quality changed over time.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 neural generator creates formulaic factors; a second model selects and dynamically reweights them using recent performance.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It automated both factor creation and time-varying factor combination.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Authors report outperforming contemporary factor-mining benchmarks and improving portfolio returns, including a real-money investment experiment.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635508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 Agent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Sun Yat-sen University-led team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31st ACM SIGKDD Conference on Knowledge Discovery and Data Mining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August 2025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Language-model-generated factors can become repetitive, overly complex or disconnected from the stated market hypothesis.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The system checks originality against existing formulas, verifies hypothesis–factor alignment and limits unnecessary complexity.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It adds structure and control to language-model factor generation.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Authors report stronger factor performance and improved novelty on CSI 500 and S&amp;P 500 experiments.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Shi et al., AlphaForge · Tang et al., AlphaAgent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10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7" name="Shape 5"/>
          <p:cNvSpPr/>
          <p:nvPr/>
        </p:nvSpPr>
        <p:spPr>
          <a:xfrm>
            <a:off x="621720" y="6693480"/>
            <a:ext cx="37677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917593" y="595481"/>
            <a:ext cx="10515240" cy="23778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US" sz="2400" b="1" dirty="0">
                <a:solidFill>
                  <a:srgbClr val="003A70"/>
                </a:solidFill>
                <a:ea typeface="Arial" panose="020B0604020202020204"/>
              </a:rPr>
              <a:t>R&amp;D-Agent(Q): from factor generation to an R&amp;D loop</a:t>
            </a:r>
            <a:endParaRPr lang="en-US" sz="2400" dirty="0">
              <a:solidFill>
                <a:srgbClr val="000000"/>
              </a:solidFill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Microsoft Research Asia-led team</a:t>
            </a:r>
            <a:endParaRPr lang="en-US" sz="12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Thirty-ninth Conference on Neural Information Processing Systems, Datasets and Benchmarks Track </a:t>
            </a:r>
            <a:endParaRPr lang="en-US" sz="12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2025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Story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: R&amp;D-Agent(Q) treats quantitative research as a connected process: research proposes a hypothesis, development writes code, market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backtests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produce feedback, and that feedback changes the next research direction.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Reported result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: up to 2× higher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annualised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returns than classical factor libraries while using 70% fewer factors; </a:t>
            </a:r>
            <a:r>
              <a:rPr lang="en-US" sz="1400" dirty="0">
                <a:solidFill>
                  <a:srgbClr val="285B86"/>
                </a:solidFill>
              </a:rPr>
              <a:t>open-source implementation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9" name="Shape 17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0" name="Text 18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Microsoft Research: R&amp;D-Agent-Quant · NeurIPS 2025 publication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15480" y="3884720"/>
            <a:ext cx="10517353" cy="1389600"/>
            <a:chOff x="914400" y="1508760"/>
            <a:chExt cx="10517353" cy="1389600"/>
          </a:xfrm>
        </p:grpSpPr>
        <p:sp>
          <p:nvSpPr>
            <p:cNvPr id="158" name="Text 6"/>
            <p:cNvSpPr/>
            <p:nvPr/>
          </p:nvSpPr>
          <p:spPr>
            <a:xfrm>
              <a:off x="914400" y="1554480"/>
              <a:ext cx="1508400" cy="68544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Research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hypothesis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159" name="Text 7"/>
            <p:cNvSpPr/>
            <p:nvPr/>
          </p:nvSpPr>
          <p:spPr>
            <a:xfrm>
              <a:off x="3017520" y="1554480"/>
              <a:ext cx="1508400" cy="68544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Development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task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160" name="Text 8"/>
            <p:cNvSpPr/>
            <p:nvPr/>
          </p:nvSpPr>
          <p:spPr>
            <a:xfrm>
              <a:off x="5120640" y="1554480"/>
              <a:ext cx="1508400" cy="68544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Code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implementation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161" name="Text 9"/>
            <p:cNvSpPr/>
            <p:nvPr/>
          </p:nvSpPr>
          <p:spPr>
            <a:xfrm>
              <a:off x="7223760" y="1554480"/>
              <a:ext cx="1508400" cy="68544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Backtest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162" name="Shape 10"/>
            <p:cNvSpPr/>
            <p:nvPr/>
          </p:nvSpPr>
          <p:spPr>
            <a:xfrm>
              <a:off x="2423160" y="1901880"/>
              <a:ext cx="594360" cy="360"/>
            </a:xfrm>
            <a:prstGeom prst="line">
              <a:avLst/>
            </a:prstGeom>
            <a:ln w="2016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163" name="Shape 11"/>
            <p:cNvSpPr/>
            <p:nvPr/>
          </p:nvSpPr>
          <p:spPr>
            <a:xfrm>
              <a:off x="4526280" y="1901880"/>
              <a:ext cx="594360" cy="360"/>
            </a:xfrm>
            <a:prstGeom prst="line">
              <a:avLst/>
            </a:prstGeom>
            <a:ln w="2016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164" name="Shape 12"/>
            <p:cNvSpPr/>
            <p:nvPr/>
          </p:nvSpPr>
          <p:spPr>
            <a:xfrm>
              <a:off x="6629400" y="1901880"/>
              <a:ext cx="594360" cy="360"/>
            </a:xfrm>
            <a:prstGeom prst="line">
              <a:avLst/>
            </a:prstGeom>
            <a:ln w="2016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165" name="Text 13"/>
            <p:cNvSpPr/>
            <p:nvPr/>
          </p:nvSpPr>
          <p:spPr>
            <a:xfrm>
              <a:off x="9308880" y="1508760"/>
              <a:ext cx="2122873" cy="776880"/>
            </a:xfrm>
            <a:prstGeom prst="roundRect">
              <a:avLst>
                <a:gd name="adj" fmla="val 9412"/>
              </a:avLst>
            </a:prstGeom>
            <a:solidFill>
              <a:srgbClr val="EAF6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Feedback:</a:t>
              </a:r>
              <a:endParaRPr lang="en-US" sz="113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evaluate the result and set the next research direction</a:t>
              </a:r>
              <a:endParaRPr lang="en-US" sz="113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3" name="Shape 12"/>
            <p:cNvSpPr/>
            <p:nvPr/>
          </p:nvSpPr>
          <p:spPr>
            <a:xfrm>
              <a:off x="8732160" y="1897200"/>
              <a:ext cx="594360" cy="360"/>
            </a:xfrm>
            <a:prstGeom prst="line">
              <a:avLst/>
            </a:prstGeom>
            <a:ln w="2016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792650" y="2212920"/>
              <a:ext cx="8606100" cy="685440"/>
              <a:chOff x="1691280" y="2240280"/>
              <a:chExt cx="8606100" cy="685440"/>
            </a:xfrm>
          </p:grpSpPr>
          <p:sp>
            <p:nvSpPr>
              <p:cNvPr id="166" name="Shape 14"/>
              <p:cNvSpPr/>
              <p:nvPr/>
            </p:nvSpPr>
            <p:spPr>
              <a:xfrm flipH="1">
                <a:off x="1691280" y="2923200"/>
                <a:ext cx="8606100" cy="360"/>
              </a:xfrm>
              <a:prstGeom prst="line">
                <a:avLst/>
              </a:prstGeom>
              <a:ln w="20160">
                <a:solidFill>
                  <a:srgbClr val="005BAC"/>
                </a:solidFill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 panose="020B0604020202020204"/>
                </a:endParaRPr>
              </a:p>
            </p:txBody>
          </p:sp>
          <p:sp>
            <p:nvSpPr>
              <p:cNvPr id="167" name="Shape 15"/>
              <p:cNvSpPr/>
              <p:nvPr/>
            </p:nvSpPr>
            <p:spPr>
              <a:xfrm flipV="1">
                <a:off x="1691280" y="2240280"/>
                <a:ext cx="360" cy="685440"/>
              </a:xfrm>
              <a:prstGeom prst="line">
                <a:avLst/>
              </a:prstGeom>
              <a:ln w="16560">
                <a:solidFill>
                  <a:srgbClr val="005BAC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 panose="020B0604020202020204"/>
                </a:endParaRPr>
              </a:p>
            </p:txBody>
          </p:sp>
          <p:sp>
            <p:nvSpPr>
              <p:cNvPr id="5" name="Shape 15"/>
              <p:cNvSpPr/>
              <p:nvPr/>
            </p:nvSpPr>
            <p:spPr>
              <a:xfrm flipV="1">
                <a:off x="10297020" y="2313000"/>
                <a:ext cx="0" cy="609840"/>
              </a:xfrm>
              <a:prstGeom prst="line">
                <a:avLst/>
              </a:prstGeom>
              <a:ln w="16560">
                <a:solidFill>
                  <a:srgbClr val="005BAC"/>
                </a:solidFill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Guided search and lineage-aware search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11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621720" y="6693480"/>
            <a:ext cx="41443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68580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 Jungle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Institute for Interdisciplinary Information Sciences, Tsinghua University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Proceedings of the AAAI Conference on Artificial Intelligence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March 2026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The formula space is enormous. Genetic and reinforcement-learning searches can be inefficient or produce opaque, repetitive expressions.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Each candidate formula becomes a node in a search tree.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Backtest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 feedback decides which branch deserves further refinement.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The language model guides a structured search and avoids frequently repeated subtrees.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Paper reports better predictive accuracy, trading performance and interpretability than existing methods on real-world stock data.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635508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 PROBE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Peking University and </a:t>
            </a:r>
            <a:r>
              <a:rPr lang="en-US" sz="1200" u="none" strike="noStrike" dirty="0" err="1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Zhengren</a:t>
            </a:r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 Quant researchers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February 2026 preprint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Flat factor pools and short parent–child chains lose the global structure of how the library was created.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Factors are stored in a directed family graph; the full ancestral trace guides the next search.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It uses global lineage, not only local parent-child mutations.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Authors report improved factor quality and reduced redundant search on Chinese equity data.</a:t>
            </a:r>
            <a:r>
              <a:rPr lang="en-US" sz="1400" dirty="0">
                <a:solidFill>
                  <a:srgbClr val="285B86"/>
                </a:solidFill>
              </a:rPr>
              <a:t> Open-source implementation</a:t>
            </a:r>
            <a:endParaRPr lang="en-US" sz="1400" dirty="0">
              <a:solidFill>
                <a:srgbClr val="000000"/>
              </a:solidFill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Shi, Duan &amp; Li, Navigating the Alpha Jungle · Guo et al., AlphaPROBE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QuantaAlpha and FactorMiner: memory becomes active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12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6" name="Shape 5"/>
          <p:cNvSpPr/>
          <p:nvPr/>
        </p:nvSpPr>
        <p:spPr>
          <a:xfrm>
            <a:off x="621720" y="6693480"/>
            <a:ext cx="45212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68580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Quanta Alpha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 err="1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AIFin</a:t>
            </a:r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 Lab-led collaboration spanning Shanghai University of Finance and Economics and partner institutions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February 2026 preprint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Multi-round agents can drift after noisy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backtest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 feedback and often fail to reuse validated parts of earlier research.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 full path—hypothesis, factor, implementation and feedback—is treated as a trajectory. Weak steps are mutated; useful segments are recombined.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The reusable unit becomes part of the research path, not only the final formula.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Authors report strong CSI 300 performance and transfer of mined factors to CSI 500 and S&amp;P 500.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6336669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Factor Miner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 err="1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Yanlong</a:t>
            </a:r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 Wang, Jian Xu, </a:t>
            </a:r>
            <a:r>
              <a:rPr lang="en-US" sz="1200" u="none" strike="noStrike" dirty="0" err="1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Hongkang</a:t>
            </a:r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 Zhang and collaborators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February 2026 preprint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As the factor library grows, the search becomes crowded with redundant ideas and repeated failures.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Executable research skills are paired with experience memory that distils successful patterns, rejection reasons and redundancy constraints.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The system explicitly stores failures and uses them to steer later generation.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Authors report better factor mining performance and reduced redundant exploration on equity benchmarks.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Han et al., QuantaAlpha · Wang et al., FactorMiner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AlphaLogics and FactorEngine: from factors to research experience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13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621720" y="6693480"/>
            <a:ext cx="48981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68580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 Logics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Shenzhen University team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March 2026 preprint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Automated systems increasingly discover factors, but the underlying market logic remains handcrafted and hard to scale.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The system builds a library of market logics and updates each logic using the results of the factors it generates.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It moves memory from factor-level storage towards logic-level learning.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Authors report improvements from logic-guided generation over direct factor generation baselines.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635508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Factor Engine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Academic collaboration</a:t>
            </a:r>
            <a:endParaRPr lang="en-US" sz="1200" u="none" strike="noStrike" dirty="0">
              <a:solidFill>
                <a:srgbClr val="285B86"/>
              </a:solidFill>
              <a:effectLst/>
              <a:uFillTx/>
              <a:latin typeface="Arial" panose="020B0604020202020204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 panose="020B0604020202020204"/>
              </a:rPr>
              <a:t>March 2026 preprint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Many systems restrict factors to short formula expressions, limiting the range of executable trading logic.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 factor can be an executable program. The system separates logic search from parameter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optimisation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 and stores experience, including failures.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It broadens the research object from formula to program and uses experience to guide revisions.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Authors report better factor discovery performance against formula-based baselines.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9" name="Shape 8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Weng et al., AlphaLogics · Lin et al., FactorEngine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How the published approaches differ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14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621720" y="6693480"/>
            <a:ext cx="52747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685800" y="1143000"/>
            <a:ext cx="1517400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dirty="0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Approach</a:t>
            </a:r>
            <a:endParaRPr lang="en-US" sz="950" b="0" u="none" strike="noStrike" dirty="0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2203201" y="1143000"/>
            <a:ext cx="2098776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Main research object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4301977" y="1143000"/>
            <a:ext cx="3254678" cy="56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How it learns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7556655" y="1143000"/>
            <a:ext cx="3964425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Evidence status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685800" y="175680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AlphaForge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2203201" y="175680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Complete factor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4301977" y="175680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Neural generation + dynamic combination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7556655" y="175680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AAAI 2025; reports benchmark and real-money experiment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685800" y="237096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AlphaAgent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2203201" y="237096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Complete formula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4301977" y="237096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LLM with originality and complexity controls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7556655" y="237096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KDD 2025; reports CSI 500 and S&amp;P 500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685800" y="298476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R&amp;D-Agent(Q)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2203201" y="298476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Factor, model and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4301977" y="298476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Backtest feedback drives next research task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7556655" y="298476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NeurIPS</a:t>
            </a: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 2025; reports return improvements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3" name="Text 22"/>
          <p:cNvSpPr/>
          <p:nvPr/>
        </p:nvSpPr>
        <p:spPr>
          <a:xfrm>
            <a:off x="685800" y="359892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 Jungle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2203201" y="359892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Formula branch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4301977" y="359892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Tree search guided by backtest results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7556655" y="359892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AAAI 2026; reports equity-market experiments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685800" y="421272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AlphaPROBE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2203201" y="421272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Factor lineage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9" name="Text 28"/>
          <p:cNvSpPr/>
          <p:nvPr/>
        </p:nvSpPr>
        <p:spPr>
          <a:xfrm>
            <a:off x="4301977" y="421272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Ancestry-aware 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7556655" y="421272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2026 preprint; reports Chinese-equity tests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685800" y="482688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Memory systems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2" name="Text 31"/>
          <p:cNvSpPr/>
          <p:nvPr/>
        </p:nvSpPr>
        <p:spPr>
          <a:xfrm>
            <a:off x="2203201" y="482688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Logic, trajectory or program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3" name="Text 32"/>
          <p:cNvSpPr/>
          <p:nvPr/>
        </p:nvSpPr>
        <p:spPr>
          <a:xfrm>
            <a:off x="4301977" y="482688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Repair, recombination and failure reuse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4" name="Text 33"/>
          <p:cNvSpPr/>
          <p:nvPr/>
        </p:nvSpPr>
        <p:spPr>
          <a:xfrm>
            <a:off x="7556655" y="482688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2026 preprints; useful design evidence, less mature publication status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5" name="Text 34"/>
          <p:cNvSpPr/>
          <p:nvPr/>
        </p:nvSpPr>
        <p:spPr>
          <a:xfrm>
            <a:off x="685800" y="5532120"/>
            <a:ext cx="10835280" cy="50256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strongest public evidence is still built mainly around equity-style data and complete factors, formulas, programs or research trajectories.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6" name="Shape 35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7" name="Text 36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AlphaForge · AlphaAgent · R&amp;D-Agent(Q) · Alpha Jungle · AlphaPROBE · QuantaAlpha · FactorMiner · AlphaLogics · FactorEngine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9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Inspiration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15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621720" y="6693480"/>
            <a:ext cx="56516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509978" y="977760"/>
            <a:ext cx="10789560" cy="69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E4002B"/>
                </a:solidFill>
                <a:effectLst/>
                <a:uFillTx/>
                <a:latin typeface="Arial" panose="020B0604020202020204"/>
              </a:rPr>
              <a:t>In-silico drug discovery</a:t>
            </a:r>
            <a:endParaRPr lang="en-US" sz="2400" b="1" u="none" strike="noStrike" dirty="0">
              <a:solidFill>
                <a:srgbClr val="E4002B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55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Using computer simulations, artificial intelligence, and mathematical models to find, test, and design new medicines. </a:t>
            </a:r>
            <a:endParaRPr lang="en-US" sz="1550" b="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09733" y="2280127"/>
            <a:ext cx="10719800" cy="1733642"/>
            <a:chOff x="777240" y="2280127"/>
            <a:chExt cx="10719800" cy="1733642"/>
          </a:xfrm>
        </p:grpSpPr>
        <p:sp>
          <p:nvSpPr>
            <p:cNvPr id="245" name="Text 7"/>
            <p:cNvSpPr/>
            <p:nvPr/>
          </p:nvSpPr>
          <p:spPr>
            <a:xfrm>
              <a:off x="777240" y="2280127"/>
              <a:ext cx="1874160" cy="1727488"/>
            </a:xfrm>
            <a:prstGeom prst="roundRect">
              <a:avLst>
                <a:gd name="adj" fmla="val 3902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Known compounds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Begin with smaller objects whose properties can be measured.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46" name="Shape 8"/>
            <p:cNvSpPr/>
            <p:nvPr/>
          </p:nvSpPr>
          <p:spPr>
            <a:xfrm>
              <a:off x="2639740" y="3143588"/>
              <a:ext cx="274320" cy="283"/>
            </a:xfrm>
            <a:prstGeom prst="line">
              <a:avLst/>
            </a:prstGeom>
            <a:ln w="1404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47" name="Text 9"/>
            <p:cNvSpPr/>
            <p:nvPr/>
          </p:nvSpPr>
          <p:spPr>
            <a:xfrm>
              <a:off x="2926080" y="2280127"/>
              <a:ext cx="2143010" cy="1727488"/>
            </a:xfrm>
            <a:prstGeom prst="roundRect">
              <a:avLst>
                <a:gd name="adj" fmla="val 3902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Modify or combine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Create new composite compounds rather than search for complete drugs from scratch.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48" name="Shape 10"/>
            <p:cNvSpPr/>
            <p:nvPr/>
          </p:nvSpPr>
          <p:spPr>
            <a:xfrm flipV="1">
              <a:off x="5050681" y="3143305"/>
              <a:ext cx="232174" cy="6578"/>
            </a:xfrm>
            <a:prstGeom prst="line">
              <a:avLst/>
            </a:prstGeom>
            <a:ln w="1404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49" name="Text 11"/>
            <p:cNvSpPr/>
            <p:nvPr/>
          </p:nvSpPr>
          <p:spPr>
            <a:xfrm>
              <a:off x="5276465" y="2280127"/>
              <a:ext cx="1977620" cy="1727488"/>
            </a:xfrm>
            <a:prstGeom prst="roundRect">
              <a:avLst>
                <a:gd name="adj" fmla="val 3902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Cheap screening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Use computational tests to reject many weak candidates quickly.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50" name="Shape 12"/>
            <p:cNvSpPr/>
            <p:nvPr/>
          </p:nvSpPr>
          <p:spPr>
            <a:xfrm>
              <a:off x="7244530" y="3143589"/>
              <a:ext cx="234780" cy="6578"/>
            </a:xfrm>
            <a:prstGeom prst="line">
              <a:avLst/>
            </a:prstGeom>
            <a:ln w="1404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51" name="Text 13"/>
            <p:cNvSpPr/>
            <p:nvPr/>
          </p:nvSpPr>
          <p:spPr>
            <a:xfrm>
              <a:off x="7486060" y="2280127"/>
              <a:ext cx="1874160" cy="1727488"/>
            </a:xfrm>
            <a:prstGeom prst="roundRect">
              <a:avLst>
                <a:gd name="adj" fmla="val 3902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Expensive testing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Send only a small subset to more costly evaluation.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52" name="Shape 14"/>
            <p:cNvSpPr/>
            <p:nvPr/>
          </p:nvSpPr>
          <p:spPr>
            <a:xfrm>
              <a:off x="9381350" y="3150024"/>
              <a:ext cx="241530" cy="141"/>
            </a:xfrm>
            <a:prstGeom prst="line">
              <a:avLst/>
            </a:prstGeom>
            <a:ln w="1404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53" name="Text 15"/>
            <p:cNvSpPr/>
            <p:nvPr/>
          </p:nvSpPr>
          <p:spPr>
            <a:xfrm>
              <a:off x="9622880" y="2286281"/>
              <a:ext cx="1874160" cy="1727488"/>
            </a:xfrm>
            <a:prstGeom prst="roundRect">
              <a:avLst>
                <a:gd name="adj" fmla="val 3902"/>
              </a:avLst>
            </a:prstGeom>
            <a:solidFill>
              <a:srgbClr val="FFE5EE"/>
            </a:solidFill>
            <a:ln w="0">
              <a:solidFill>
                <a:srgbClr val="FFC7D7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Knowledge accumulates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Record properties, useful interactions and failures for the next search.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sp>
        <p:nvSpPr>
          <p:cNvPr id="254" name="Text 16"/>
          <p:cNvSpPr/>
          <p:nvPr/>
        </p:nvSpPr>
        <p:spPr>
          <a:xfrm>
            <a:off x="1097280" y="4754880"/>
            <a:ext cx="1001232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Knowledge accumulates at every stage: </a:t>
            </a:r>
            <a:endParaRPr lang="en-US" sz="1400" b="1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 properties, successful combinations, failed combinations and changing conditions.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 panose="020B0604020202020204"/>
              </a:rPr>
              <a:t>Methodological background: Nature Reviews Drug Discovery on virtual / in-silico screening · Ultra-Large Virtual Screening review, 2025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8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600" b="1" dirty="0">
                <a:solidFill>
                  <a:srgbClr val="003A70"/>
                </a:solidFill>
                <a:ea typeface="Arial" panose="020B0604020202020204"/>
              </a:rPr>
              <a:t>Inspiration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261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16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2" name="Shape 5"/>
          <p:cNvSpPr/>
          <p:nvPr/>
        </p:nvSpPr>
        <p:spPr>
          <a:xfrm>
            <a:off x="621720" y="6693480"/>
            <a:ext cx="60282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1577188" y="1079407"/>
            <a:ext cx="4062302" cy="1868932"/>
          </a:xfrm>
          <a:prstGeom prst="roundRect">
            <a:avLst>
              <a:gd name="adj" fmla="val 6667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World Quant research Paradigm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Shared data, standard functions, repeatable tests and scaled research participation.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5728141" y="1079406"/>
            <a:ext cx="3827032" cy="1870380"/>
          </a:xfrm>
          <a:prstGeom prst="roundRect">
            <a:avLst>
              <a:gd name="adj" fmla="val 6667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LLM research agents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Hypothesis formation, coding assistance, feedback interpretation and research memory.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577187" y="3082266"/>
            <a:ext cx="7977985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In-silico discovery methodology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Recursive compounds, staged screening, evidence accumulation and distillation.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5639490" y="4133466"/>
            <a:ext cx="0" cy="667134"/>
          </a:xfrm>
          <a:prstGeom prst="line">
            <a:avLst/>
          </a:prstGeom>
          <a:ln w="5715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9" name="Text 12"/>
          <p:cNvSpPr/>
          <p:nvPr/>
        </p:nvSpPr>
        <p:spPr>
          <a:xfrm>
            <a:off x="2985121" y="4800600"/>
            <a:ext cx="5486040" cy="868320"/>
          </a:xfrm>
          <a:prstGeom prst="roundRect">
            <a:avLst>
              <a:gd name="adj" fmla="val 8421"/>
            </a:avLst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Our proposed research process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1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3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Alpha Compound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4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17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5" name="Shape 5"/>
          <p:cNvSpPr/>
          <p:nvPr/>
        </p:nvSpPr>
        <p:spPr>
          <a:xfrm>
            <a:off x="621720" y="6693480"/>
            <a:ext cx="64051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88934" y="1076746"/>
            <a:ext cx="10266746" cy="4181738"/>
            <a:chOff x="594360" y="1070609"/>
            <a:chExt cx="10266746" cy="4181738"/>
          </a:xfrm>
        </p:grpSpPr>
        <p:sp>
          <p:nvSpPr>
            <p:cNvPr id="276" name="Text 6"/>
            <p:cNvSpPr/>
            <p:nvPr/>
          </p:nvSpPr>
          <p:spPr>
            <a:xfrm>
              <a:off x="594361" y="1070609"/>
              <a:ext cx="10266745" cy="1093730"/>
            </a:xfrm>
            <a:prstGeom prst="roundRect">
              <a:avLst>
                <a:gd name="adj" fmla="val 10256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/>
            </a:bodyPr>
            <a:lstStyle/>
            <a:p>
              <a:pPr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0B477D"/>
                  </a:solidFill>
                  <a:effectLst/>
                  <a:uFillTx/>
                  <a:ea typeface="Arial" panose="020B0604020202020204"/>
                </a:rPr>
                <a:t>Alpha Compound </a:t>
              </a:r>
              <a:endParaRPr lang="en-US" sz="1700" b="1" u="none" strike="noStrike" dirty="0">
                <a:solidFill>
                  <a:srgbClr val="0B477D"/>
                </a:solidFill>
                <a:effectLst/>
                <a:uFillTx/>
                <a:ea typeface="Arial" panose="020B0604020202020204"/>
              </a:endParaRPr>
            </a:p>
            <a:p>
              <a:pPr>
                <a:tabLst>
                  <a:tab pos="0" algn="l"/>
                </a:tabLst>
              </a:pPr>
              <a:r>
                <a:rPr lang="en-US" sz="1500" u="none" strike="noStrike" dirty="0">
                  <a:solidFill>
                    <a:srgbClr val="0B477D"/>
                  </a:solidFill>
                  <a:effectLst/>
                  <a:uFillTx/>
                  <a:ea typeface="Arial" panose="020B0604020202020204"/>
                </a:rPr>
                <a:t>Like chemical compounds, alpha compound is a reusable piece of knowledge that can contribute to constructing alpha signals.</a:t>
              </a:r>
              <a:r>
                <a:rPr lang="en-GB" sz="1500" u="none" strike="noStrike" dirty="0">
                  <a:solidFill>
                    <a:srgbClr val="0B477D"/>
                  </a:solidFill>
                  <a:effectLst/>
                  <a:uFillTx/>
                  <a:ea typeface="Arial" panose="020B0604020202020204"/>
                </a:rPr>
                <a:t> </a:t>
              </a:r>
              <a:endParaRPr lang="en-GB" sz="1500" u="none" strike="noStrike" dirty="0">
                <a:solidFill>
                  <a:srgbClr val="0B477D"/>
                </a:solidFill>
                <a:effectLst/>
                <a:uFillTx/>
                <a:ea typeface="Arial" panose="020B0604020202020204"/>
              </a:endParaRPr>
            </a:p>
            <a:p>
              <a:pPr>
                <a:tabLst>
                  <a:tab pos="0" algn="l"/>
                </a:tabLst>
              </a:pPr>
              <a:r>
                <a:rPr lang="en-GB" sz="1500" u="none" strike="noStrike" dirty="0">
                  <a:solidFill>
                    <a:srgbClr val="0B477D"/>
                  </a:solidFill>
                  <a:effectLst/>
                  <a:uFillTx/>
                  <a:ea typeface="Arial" panose="020B0604020202020204"/>
                </a:rPr>
                <a:t>It may be a formula, function, transformation or composite.</a:t>
              </a:r>
              <a:r>
                <a:rPr lang="en-US" sz="1500" dirty="0">
                  <a:solidFill>
                    <a:srgbClr val="0B477D"/>
                  </a:solidFill>
                  <a:ea typeface="Arial" panose="020B0604020202020204"/>
                </a:rPr>
                <a:t> </a:t>
              </a:r>
              <a:endParaRPr lang="en-US" sz="1500" dirty="0">
                <a:solidFill>
                  <a:srgbClr val="0B477D"/>
                </a:solidFill>
                <a:ea typeface="Arial" panose="020B0604020202020204"/>
              </a:endParaRPr>
            </a:p>
            <a:p>
              <a:pPr>
                <a:tabLst>
                  <a:tab pos="0" algn="l"/>
                </a:tabLst>
              </a:pPr>
              <a:r>
                <a:rPr lang="en-GB" sz="1500" u="none" strike="noStrike" dirty="0">
                  <a:solidFill>
                    <a:srgbClr val="0B477D"/>
                  </a:solidFill>
                  <a:effectLst/>
                  <a:uFillTx/>
                  <a:ea typeface="Arial" panose="020B0604020202020204"/>
                </a:rPr>
                <a:t>The knowledge can </a:t>
              </a:r>
              <a:r>
                <a:rPr lang="en-GB" sz="1500" dirty="0">
                  <a:solidFill>
                    <a:srgbClr val="0B477D"/>
                  </a:solidFill>
                  <a:ea typeface="Arial" panose="020B0604020202020204"/>
                </a:rPr>
                <a:t>be tested, recorded and </a:t>
              </a:r>
              <a:r>
                <a:rPr lang="en-GB" sz="1500" u="none" strike="noStrike" dirty="0">
                  <a:solidFill>
                    <a:srgbClr val="0B477D"/>
                  </a:solidFill>
                  <a:effectLst/>
                  <a:uFillTx/>
                  <a:ea typeface="Arial" panose="020B0604020202020204"/>
                </a:rPr>
                <a:t>reuse. </a:t>
              </a:r>
              <a:endParaRPr lang="en-GB" sz="1500" dirty="0">
                <a:solidFill>
                  <a:srgbClr val="0B477D"/>
                </a:solidFill>
                <a:ea typeface="Arial" panose="020B0604020202020204"/>
              </a:endParaRPr>
            </a:p>
          </p:txBody>
        </p:sp>
        <p:sp>
          <p:nvSpPr>
            <p:cNvPr id="277" name="Text 7"/>
            <p:cNvSpPr/>
            <p:nvPr/>
          </p:nvSpPr>
          <p:spPr>
            <a:xfrm>
              <a:off x="594360" y="4018267"/>
              <a:ext cx="2047997" cy="123408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512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r>
                <a:rPr lang="en-US" sz="1450" b="1" u="none" strike="noStrike" dirty="0">
                  <a:solidFill>
                    <a:srgbClr val="003A70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Predictor</a:t>
              </a:r>
              <a:endParaRPr lang="en-US" sz="145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Contributes directional prediction on its own.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78" name="Text 8"/>
            <p:cNvSpPr/>
            <p:nvPr/>
          </p:nvSpPr>
          <p:spPr>
            <a:xfrm>
              <a:off x="3094481" y="4018267"/>
              <a:ext cx="2364449" cy="123408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512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r>
                <a:rPr lang="en-US" sz="1450" b="1" u="none" strike="noStrike" dirty="0">
                  <a:solidFill>
                    <a:srgbClr val="003A70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Amplifier</a:t>
              </a:r>
              <a:endParaRPr lang="en-US" sz="145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Strengthens another compound's predictive effect.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79" name="Text 9"/>
            <p:cNvSpPr/>
            <p:nvPr/>
          </p:nvSpPr>
          <p:spPr>
            <a:xfrm>
              <a:off x="5953794" y="4018267"/>
              <a:ext cx="2047997" cy="123408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512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r>
                <a:rPr lang="en-US" sz="1450" b="1" u="none" strike="noStrike" dirty="0">
                  <a:solidFill>
                    <a:srgbClr val="003A70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Conditioner</a:t>
              </a:r>
              <a:endParaRPr lang="en-US" sz="145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Identifies when another compound is useful.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  <p:sp>
          <p:nvSpPr>
            <p:cNvPr id="280" name="Text 10"/>
            <p:cNvSpPr/>
            <p:nvPr/>
          </p:nvSpPr>
          <p:spPr>
            <a:xfrm>
              <a:off x="8496656" y="4018267"/>
              <a:ext cx="2364449" cy="123408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512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r>
                <a:rPr lang="en-US" sz="1450" b="1" u="none" strike="noStrike" dirty="0">
                  <a:solidFill>
                    <a:srgbClr val="003A70"/>
                  </a:solidFill>
                  <a:effectLst/>
                  <a:uFillTx/>
                  <a:latin typeface="Arial" panose="020B0604020202020204"/>
                  <a:ea typeface="Arial" panose="020B0604020202020204"/>
                </a:rPr>
                <a:t>Cross terms</a:t>
              </a:r>
              <a:endParaRPr lang="en-US" sz="145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00000"/>
                  </a:solidFill>
                  <a:effectLst/>
                  <a:uFillTx/>
                  <a:latin typeface="Arial" panose="020B0604020202020204"/>
                </a:rPr>
                <a:t>Capturing non-linear relationships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sp>
        <p:nvSpPr>
          <p:cNvPr id="282" name="Text 12"/>
          <p:cNvSpPr/>
          <p:nvPr/>
        </p:nvSpPr>
        <p:spPr>
          <a:xfrm>
            <a:off x="888934" y="2326103"/>
            <a:ext cx="10266745" cy="123408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Function and Operators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ea typeface="Arial" panose="020B0604020202020204"/>
              </a:rPr>
              <a:t>Functions of a particular construction such as rank, lag, multiply, condition or compare</a:t>
            </a:r>
            <a:r>
              <a:rPr lang="en-US" sz="1400" dirty="0">
                <a:solidFill>
                  <a:srgbClr val="0B477D"/>
                </a:solidFill>
                <a:ea typeface="Arial" panose="020B0604020202020204"/>
              </a:rPr>
              <a:t> is part of alpha compound. 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ea typeface="Arial" panose="020B0604020202020204"/>
            </a:endParaRPr>
          </a:p>
          <a:p>
            <a:pPr>
              <a:tabLst>
                <a:tab pos="0" algn="l"/>
              </a:tabLst>
            </a:pPr>
            <a:r>
              <a:rPr lang="en-US" sz="1400" dirty="0">
                <a:solidFill>
                  <a:srgbClr val="0B477D"/>
                </a:solidFill>
                <a:ea typeface="Arial" panose="020B0604020202020204"/>
              </a:rPr>
              <a:t>They can be used to combine simple predictive compounds together to form composites.</a:t>
            </a:r>
            <a:endParaRPr lang="en-US" sz="1400" dirty="0">
              <a:solidFill>
                <a:srgbClr val="0B477D"/>
              </a:solidFill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ea typeface="Arial" panose="020B0604020202020204"/>
              </a:rPr>
              <a:t>If its utility becomes reusable evidence, it may itself be retained as a compound.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4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 distillation and recursive discovery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18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8" name="Shape 5"/>
          <p:cNvSpPr/>
          <p:nvPr/>
        </p:nvSpPr>
        <p:spPr>
          <a:xfrm>
            <a:off x="621720" y="6693480"/>
            <a:ext cx="67820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1013560" y="1359924"/>
            <a:ext cx="329358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Alpha sources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published alphas · human-designed alphas · Alpha Bank · newly discovered alphas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4627538" y="1359924"/>
            <a:ext cx="3209300" cy="91404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 distillation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identify reusable pieces of knowledge that explain what worked, failed or changed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8256655" y="1359924"/>
            <a:ext cx="2562723" cy="91404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 Library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properties, interactions, conditions and negative evidence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8082314" y="2897424"/>
            <a:ext cx="2737064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Select, transform and recombine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use the Library to propose new composite compounds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3" name="Text 10"/>
          <p:cNvSpPr/>
          <p:nvPr/>
        </p:nvSpPr>
        <p:spPr>
          <a:xfrm>
            <a:off x="5099774" y="2907663"/>
            <a:ext cx="2179470" cy="776880"/>
          </a:xfrm>
          <a:prstGeom prst="roundRect">
            <a:avLst>
              <a:gd name="adj" fmla="val 9412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New alpha candidate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1392644" y="2870404"/>
            <a:ext cx="2535412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Test, trade and observe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performance creates new evidence for the next distillation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5" name="Shape 12"/>
          <p:cNvSpPr/>
          <p:nvPr/>
        </p:nvSpPr>
        <p:spPr>
          <a:xfrm>
            <a:off x="4307499" y="1817124"/>
            <a:ext cx="32004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6" name="Shape 13"/>
          <p:cNvSpPr/>
          <p:nvPr/>
        </p:nvSpPr>
        <p:spPr>
          <a:xfrm flipV="1">
            <a:off x="7836838" y="1817124"/>
            <a:ext cx="419817" cy="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7" name="Shape 14"/>
          <p:cNvSpPr/>
          <p:nvPr/>
        </p:nvSpPr>
        <p:spPr>
          <a:xfrm>
            <a:off x="9550291" y="2288239"/>
            <a:ext cx="6136" cy="59491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8" name="Shape 15"/>
          <p:cNvSpPr/>
          <p:nvPr/>
        </p:nvSpPr>
        <p:spPr>
          <a:xfrm flipH="1">
            <a:off x="7279242" y="3327424"/>
            <a:ext cx="803071" cy="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9" name="Shape 16"/>
          <p:cNvSpPr/>
          <p:nvPr/>
        </p:nvSpPr>
        <p:spPr>
          <a:xfrm flipH="1">
            <a:off x="3928054" y="3327424"/>
            <a:ext cx="1171720" cy="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/>
          </a:p>
        </p:txBody>
      </p:sp>
      <p:sp>
        <p:nvSpPr>
          <p:cNvPr id="300" name="Shape 17"/>
          <p:cNvSpPr/>
          <p:nvPr/>
        </p:nvSpPr>
        <p:spPr>
          <a:xfrm flipH="1" flipV="1">
            <a:off x="2649302" y="2312753"/>
            <a:ext cx="5524" cy="537344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1" name="Text 18"/>
          <p:cNvSpPr/>
          <p:nvPr/>
        </p:nvSpPr>
        <p:spPr>
          <a:xfrm>
            <a:off x="1097280" y="4488604"/>
            <a:ext cx="9966600" cy="9590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cycle can start from our own research, existing human alphas or external published ideas. </a:t>
            </a:r>
            <a:endParaRPr lang="en-US" sz="140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Every evaluated alpha can be distilled back into compound-level knowledge.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 more controlled route to non-linearity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19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7" name="Shape 5"/>
          <p:cNvSpPr/>
          <p:nvPr/>
        </p:nvSpPr>
        <p:spPr>
          <a:xfrm>
            <a:off x="621720" y="6693480"/>
            <a:ext cx="71586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822960" y="1325880"/>
            <a:ext cx="5257440" cy="3245760"/>
          </a:xfrm>
          <a:prstGeom prst="roundRect">
            <a:avLst>
              <a:gd name="adj" fmla="val 2254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Structural control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Start with small, verifiable pieces of knowledge.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Build more complex alpha structures progressively.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Test the contribution of each compound and interaction.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Limit recursive depth, permitted transformations and free parameters.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6263640" y="1325880"/>
            <a:ext cx="5074560" cy="3245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Statistical control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Separate fitting, validation and test samples.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Keep a reserved sample away from the discovery loop.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Use forward testing on newly arriving data.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Count every candidate and every observed result.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1097280" y="4833732"/>
            <a:ext cx="9966600" cy="1327728"/>
          </a:xfrm>
          <a:prstGeom prst="roundRect">
            <a:avLst>
              <a:gd name="adj" fmla="val 10667"/>
            </a:avLst>
          </a:prstGeom>
          <a:solidFill>
            <a:srgbClr val="FFE5EE"/>
          </a:solidFill>
          <a:ln w="0">
            <a:solidFill>
              <a:srgbClr val="FFC7D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Small equations cannot completely avoid overfitting risk. </a:t>
            </a:r>
            <a:endParaRPr lang="en-US" sz="140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Testing one million simple alternatives on the same data can overfit just as badly as training one large neural network. </a:t>
            </a:r>
            <a:endParaRPr lang="en-US" sz="140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Reliability requires both constrained structure and disciplined data separation.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Compound Library and the Alpha Bank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20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6" name="Shape 5"/>
          <p:cNvSpPr/>
          <p:nvPr/>
        </p:nvSpPr>
        <p:spPr>
          <a:xfrm>
            <a:off x="621720" y="6693480"/>
            <a:ext cx="75355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7" name="Text 6"/>
          <p:cNvSpPr/>
          <p:nvPr/>
        </p:nvSpPr>
        <p:spPr>
          <a:xfrm>
            <a:off x="822960" y="1280160"/>
            <a:ext cx="4297320" cy="3337200"/>
          </a:xfrm>
          <a:prstGeom prst="roundRect">
            <a:avLst>
              <a:gd name="adj" fmla="val 2192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 Library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Longer-term institutional research knowledge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simple and composite compounds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properties, interactions and conditions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negative evidence and contradictions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construction and distillation lineage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knowledge used to create or revive alphas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7086600" y="1280160"/>
            <a:ext cx="4297320" cy="33372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Alpha Bank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Institutional trading knowledge and deployable assets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qualified signals for shadow or production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portfolio contribution and correlations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capacity, implementation and P&amp;L evidence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decay, retirement and revival history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a source of new compound-level knowledge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9" name="Shape 8"/>
          <p:cNvSpPr/>
          <p:nvPr/>
        </p:nvSpPr>
        <p:spPr>
          <a:xfrm>
            <a:off x="5120640" y="2331720"/>
            <a:ext cx="196596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5212080" y="210312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construct and qualify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1" name="Shape 10"/>
          <p:cNvSpPr/>
          <p:nvPr/>
        </p:nvSpPr>
        <p:spPr>
          <a:xfrm flipH="1">
            <a:off x="5120640" y="3611880"/>
            <a:ext cx="196596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5212080" y="342900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distil evidence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3" name="Text 12"/>
          <p:cNvSpPr/>
          <p:nvPr/>
        </p:nvSpPr>
        <p:spPr>
          <a:xfrm>
            <a:off x="871442" y="4891320"/>
            <a:ext cx="10512478" cy="114336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rgbClr val="0B477D"/>
                </a:solidFill>
                <a:ea typeface="Arial" panose="020B0604020202020204"/>
              </a:rPr>
              <a:t>Alphas come and go, while compounds can preserve why signals work, fail or return.</a:t>
            </a:r>
            <a:r>
              <a:rPr lang="en-US" sz="1400" dirty="0">
                <a:solidFill>
                  <a:srgbClr val="000000"/>
                </a:solidFill>
              </a:rPr>
              <a:t> They </a:t>
            </a: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both are institutional value. </a:t>
            </a:r>
            <a:endParaRPr lang="en-US" sz="140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Alpha Bank help traders generating P&amp;L</a:t>
            </a:r>
            <a:r>
              <a:rPr lang="en-US" sz="1400" dirty="0">
                <a:solidFill>
                  <a:srgbClr val="0B477D"/>
                </a:solidFill>
                <a:latin typeface="Arial" panose="020B0604020202020204"/>
                <a:ea typeface="Arial" panose="020B0604020202020204"/>
              </a:rPr>
              <a:t>, while t</a:t>
            </a: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he Compound Library capture deeper and structural</a:t>
            </a:r>
            <a:r>
              <a:rPr lang="en-US" sz="1400" dirty="0">
                <a:solidFill>
                  <a:srgbClr val="0B477D"/>
                </a:solidFill>
                <a:latin typeface="Arial" panose="020B0604020202020204"/>
                <a:ea typeface="Arial" panose="020B0604020202020204"/>
              </a:rPr>
              <a:t> institutional knowledge. </a:t>
            </a:r>
            <a:endParaRPr lang="en-US" sz="1400" dirty="0">
              <a:solidFill>
                <a:srgbClr val="0B477D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Each search starts from what we know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22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9" name="Shape 5"/>
          <p:cNvSpPr/>
          <p:nvPr/>
        </p:nvSpPr>
        <p:spPr>
          <a:xfrm>
            <a:off x="621720" y="6693480"/>
            <a:ext cx="82890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0" name="Text 6"/>
          <p:cNvSpPr/>
          <p:nvPr/>
        </p:nvSpPr>
        <p:spPr>
          <a:xfrm>
            <a:off x="777240" y="1325880"/>
            <a:ext cx="3428640" cy="2925720"/>
          </a:xfrm>
          <a:prstGeom prst="roundRect">
            <a:avLst>
              <a:gd name="adj" fmla="val 2500"/>
            </a:avLst>
          </a:prstGeom>
          <a:solidFill>
            <a:srgbClr val="FFE5EE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Human direction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trader observation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new data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priority market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suspected mechanism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4389120" y="1325880"/>
            <a:ext cx="3428640" cy="2925720"/>
          </a:xfrm>
          <a:prstGeom prst="roundRect">
            <a:avLst>
              <a:gd name="adj" fmla="val 2500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 Library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useful building blocks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interaction evidence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compounds with evidence of not working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stale or uncertain conclusions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2" name="Text 8"/>
          <p:cNvSpPr/>
          <p:nvPr/>
        </p:nvSpPr>
        <p:spPr>
          <a:xfrm>
            <a:off x="8001000" y="1325880"/>
            <a:ext cx="34286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Alpha Bank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portfolio gaps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existing correlations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weak regimes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decaying signals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3" name="Text 9"/>
          <p:cNvSpPr/>
          <p:nvPr/>
        </p:nvSpPr>
        <p:spPr>
          <a:xfrm>
            <a:off x="1005840" y="4818240"/>
            <a:ext cx="10195200" cy="85068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 compound that did not work before is not permanently excluded. </a:t>
            </a:r>
            <a:endParaRPr lang="en-US" sz="140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It is </a:t>
            </a:r>
            <a:r>
              <a:rPr lang="en-US" sz="140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deprioritised</a:t>
            </a: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unless the new market, horizon, data or interaction is materially different.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Is the research loop learning?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23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9" name="Shape 5"/>
          <p:cNvSpPr/>
          <p:nvPr/>
        </p:nvSpPr>
        <p:spPr>
          <a:xfrm>
            <a:off x="621720" y="6693480"/>
            <a:ext cx="86659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822960" y="123444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1280160" y="123444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Finding alpha faster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Later campaigns reach promising candidates with fewer repeated or dead-end experiments.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4526280" y="123444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4983480" y="123444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More reuse of compounds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Evidence-backed compounds contribute to later successful candidates.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8229600" y="123444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8686800" y="123444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Fewer expensive tests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Useful candidates require fewer high-fidelity replays.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822960" y="310896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7" name="Text 13"/>
          <p:cNvSpPr/>
          <p:nvPr/>
        </p:nvSpPr>
        <p:spPr>
          <a:xfrm>
            <a:off x="1280160" y="310896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Better stability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Later candidates show less out-of-sample deterioration.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4526280" y="310896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4983480" y="310896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More Alpha Bank value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New alphas add genuinely different portfolio information.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1463040" y="5532120"/>
            <a:ext cx="9326520" cy="50256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These measure the research system, not any single alpha.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Foreseeable challenges and planned responses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24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621720" y="6693480"/>
            <a:ext cx="90428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7" name="Text 6"/>
          <p:cNvSpPr/>
          <p:nvPr/>
        </p:nvSpPr>
        <p:spPr>
          <a:xfrm>
            <a:off x="685800" y="1143000"/>
            <a:ext cx="3900600" cy="69732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Foreseeable challenge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8" name="Text 7"/>
          <p:cNvSpPr/>
          <p:nvPr/>
        </p:nvSpPr>
        <p:spPr>
          <a:xfrm>
            <a:off x="4586760" y="1143000"/>
            <a:ext cx="6934320" cy="69732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Planned response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9" name="Text 8"/>
          <p:cNvSpPr/>
          <p:nvPr/>
        </p:nvSpPr>
        <p:spPr>
          <a:xfrm>
            <a:off x="685800" y="186804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Compound combinations grow quickly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0" name="Text 9"/>
          <p:cNvSpPr/>
          <p:nvPr/>
        </p:nvSpPr>
        <p:spPr>
          <a:xfrm>
            <a:off x="4586760" y="186804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Limit depth, functions and trial budgets; screen cheaply before replay.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1" name="Text 10"/>
          <p:cNvSpPr/>
          <p:nvPr/>
        </p:nvSpPr>
        <p:spPr>
          <a:xfrm>
            <a:off x="685800" y="259308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Model calls may consume many tokens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2" name="Text 11"/>
          <p:cNvSpPr/>
          <p:nvPr/>
        </p:nvSpPr>
        <p:spPr>
          <a:xfrm>
            <a:off x="4586760" y="259308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Use local open-weight models for high-volume work; deterministic code enumerates variants.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3" name="Text 12"/>
          <p:cNvSpPr/>
          <p:nvPr/>
        </p:nvSpPr>
        <p:spPr>
          <a:xfrm>
            <a:off x="685800" y="331812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Early incorrect conclusions may bias future 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4" name="Text 13"/>
          <p:cNvSpPr/>
          <p:nvPr/>
        </p:nvSpPr>
        <p:spPr>
          <a:xfrm>
            <a:off x="4586760" y="331812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Store evidence state, confidence, contradictions and last validation; treat tentative knowledge as a prior.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5" name="Text 14"/>
          <p:cNvSpPr/>
          <p:nvPr/>
        </p:nvSpPr>
        <p:spPr>
          <a:xfrm>
            <a:off x="685800" y="404280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Large-scale search can still overfit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6" name="Text 15"/>
          <p:cNvSpPr/>
          <p:nvPr/>
        </p:nvSpPr>
        <p:spPr>
          <a:xfrm>
            <a:off x="4586760" y="404280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Register every trial; use null controls, reserved data and live forward testing.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7" name="Text 16"/>
          <p:cNvSpPr/>
          <p:nvPr/>
        </p:nvSpPr>
        <p:spPr>
          <a:xfrm>
            <a:off x="685800" y="476784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Generated code may fail or invent interfaces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8" name="Text 17"/>
          <p:cNvSpPr/>
          <p:nvPr/>
        </p:nvSpPr>
        <p:spPr>
          <a:xfrm>
            <a:off x="4586760" y="476784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Use controlled interface definitions, automatic compile/test feedback and escalation.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9" name="Text 18"/>
          <p:cNvSpPr/>
          <p:nvPr/>
        </p:nvSpPr>
        <p:spPr>
          <a:xfrm>
            <a:off x="685800" y="549288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Fast assay and event replay may disagree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0" name="Text 19"/>
          <p:cNvSpPr/>
          <p:nvPr/>
        </p:nvSpPr>
        <p:spPr>
          <a:xfrm>
            <a:off x="4586760" y="549288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Maintain versioned bindings and fixed equivalence tests.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Where our design overlaps — and where it differs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25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6" name="Shape 5"/>
          <p:cNvSpPr/>
          <p:nvPr/>
        </p:nvSpPr>
        <p:spPr>
          <a:xfrm>
            <a:off x="621720" y="6693480"/>
            <a:ext cx="94194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7" name="Text 6"/>
          <p:cNvSpPr/>
          <p:nvPr/>
        </p:nvSpPr>
        <p:spPr>
          <a:xfrm>
            <a:off x="685980" y="1225980"/>
            <a:ext cx="2925360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Closest precedent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8" name="Text 7"/>
          <p:cNvSpPr/>
          <p:nvPr/>
        </p:nvSpPr>
        <p:spPr>
          <a:xfrm>
            <a:off x="3611700" y="1225980"/>
            <a:ext cx="3358800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What we share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9" name="Text 8"/>
          <p:cNvSpPr/>
          <p:nvPr/>
        </p:nvSpPr>
        <p:spPr>
          <a:xfrm>
            <a:off x="6970500" y="1225980"/>
            <a:ext cx="4550760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Main difference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0" name="Text 9"/>
          <p:cNvSpPr/>
          <p:nvPr/>
        </p:nvSpPr>
        <p:spPr>
          <a:xfrm>
            <a:off x="685980" y="183978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WorldQuant / BRAIN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1" name="Text 10"/>
          <p:cNvSpPr/>
          <p:nvPr/>
        </p:nvSpPr>
        <p:spPr>
          <a:xfrm>
            <a:off x="3611700" y="183978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Standard data, functions, tests and scale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2" name="Text 11"/>
          <p:cNvSpPr/>
          <p:nvPr/>
        </p:nvSpPr>
        <p:spPr>
          <a:xfrm>
            <a:off x="6970500" y="183978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LLM-guided recursive Compound Library, not only submitted complete signals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3" name="Text 12"/>
          <p:cNvSpPr/>
          <p:nvPr/>
        </p:nvSpPr>
        <p:spPr>
          <a:xfrm>
            <a:off x="685980" y="245394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AlphaAgent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4" name="Text 13"/>
          <p:cNvSpPr/>
          <p:nvPr/>
        </p:nvSpPr>
        <p:spPr>
          <a:xfrm>
            <a:off x="3611700" y="245394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Structured construction, novelty and complexity controls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5" name="Text 14"/>
          <p:cNvSpPr/>
          <p:nvPr/>
        </p:nvSpPr>
        <p:spPr>
          <a:xfrm>
            <a:off x="6970500" y="245394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Intermediate Alpha Compounds remain persistent research knowledge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6" name="Text 15"/>
          <p:cNvSpPr/>
          <p:nvPr/>
        </p:nvSpPr>
        <p:spPr>
          <a:xfrm>
            <a:off x="685980" y="306774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R&amp;D-Agent(Q)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7" name="Text 16"/>
          <p:cNvSpPr/>
          <p:nvPr/>
        </p:nvSpPr>
        <p:spPr>
          <a:xfrm>
            <a:off x="3611700" y="306774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Hypothesis–code–backtest–feedback loop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8" name="Text 17"/>
          <p:cNvSpPr/>
          <p:nvPr/>
        </p:nvSpPr>
        <p:spPr>
          <a:xfrm>
            <a:off x="6970500" y="306774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The loop accumulates compound-level evidence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9" name="Text 18"/>
          <p:cNvSpPr/>
          <p:nvPr/>
        </p:nvSpPr>
        <p:spPr>
          <a:xfrm>
            <a:off x="685980" y="368190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Alpha Jungle / AlphaPROBE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0" name="Text 19"/>
          <p:cNvSpPr/>
          <p:nvPr/>
        </p:nvSpPr>
        <p:spPr>
          <a:xfrm>
            <a:off x="3611700" y="368190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Guided search and lineage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1" name="Text 20"/>
          <p:cNvSpPr/>
          <p:nvPr/>
        </p:nvSpPr>
        <p:spPr>
          <a:xfrm>
            <a:off x="6970500" y="368190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Lineage exists below complete-factor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2" name="Text 21"/>
          <p:cNvSpPr/>
          <p:nvPr/>
        </p:nvSpPr>
        <p:spPr>
          <a:xfrm>
            <a:off x="685980" y="429570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</a:rPr>
              <a:t>Memory systems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3" name="Text 22"/>
          <p:cNvSpPr/>
          <p:nvPr/>
        </p:nvSpPr>
        <p:spPr>
          <a:xfrm>
            <a:off x="3611700" y="429570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Reuse of successes and failures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4" name="Text 23"/>
          <p:cNvSpPr/>
          <p:nvPr/>
        </p:nvSpPr>
        <p:spPr>
          <a:xfrm>
            <a:off x="6970500" y="429570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Memory is organised around compound properties and interaction utility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8" name="Text 27"/>
          <p:cNvSpPr/>
          <p:nvPr/>
        </p:nvSpPr>
        <p:spPr>
          <a:xfrm>
            <a:off x="960120" y="5161144"/>
            <a:ext cx="10286640" cy="873536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On top of generating useful alpha, the main difference is making the Alpha Compound the persistent unit of discovery, evidence and institutional memory.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0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1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2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Where this could be used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3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26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4" name="Shape 5"/>
          <p:cNvSpPr/>
          <p:nvPr/>
        </p:nvSpPr>
        <p:spPr>
          <a:xfrm>
            <a:off x="621720" y="6693480"/>
            <a:ext cx="97963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5" name="Text 6"/>
          <p:cNvSpPr/>
          <p:nvPr/>
        </p:nvSpPr>
        <p:spPr>
          <a:xfrm>
            <a:off x="1258680" y="1317240"/>
            <a:ext cx="4074296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FX electronic trading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Signal research, execution and hedging studies, and repeatable tests for trader observations.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6" name="Text 7"/>
          <p:cNvSpPr/>
          <p:nvPr/>
        </p:nvSpPr>
        <p:spPr>
          <a:xfrm>
            <a:off x="6309359" y="1321560"/>
            <a:ext cx="3963831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FX voice trading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Convert market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colour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and trader intuition into testable theses.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7" name="Text 8"/>
          <p:cNvSpPr/>
          <p:nvPr/>
        </p:nvSpPr>
        <p:spPr>
          <a:xfrm>
            <a:off x="1258680" y="3470400"/>
            <a:ext cx="4074296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Cross-asset research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Rates, futures, options, credit, commodities, and lead–lag or relative-value compounds.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8" name="Text 9"/>
          <p:cNvSpPr/>
          <p:nvPr/>
        </p:nvSpPr>
        <p:spPr>
          <a:xfrm>
            <a:off x="6309360" y="3470400"/>
            <a:ext cx="3963832" cy="1599840"/>
          </a:xfrm>
          <a:prstGeom prst="roundRect">
            <a:avLst>
              <a:gd name="adj" fmla="val 4571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Client-configured quantitative products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Client objective → signal research &amp;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backtest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→ </a:t>
            </a:r>
            <a:r>
              <a:rPr lang="en-US" sz="1400" dirty="0">
                <a:solidFill>
                  <a:srgbClr val="0B477D"/>
                </a:solidFill>
                <a:latin typeface="Arial" panose="020B0604020202020204"/>
                <a:ea typeface="Arial" panose="020B0604020202020204"/>
              </a:rPr>
              <a:t>a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uto-approval subject to pre-agreed framework → deployment and monitoring.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 longer-term application requiring the full product-governance process.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0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1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2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Where we are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3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27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4" name="Shape 5"/>
          <p:cNvSpPr/>
          <p:nvPr/>
        </p:nvSpPr>
        <p:spPr>
          <a:xfrm>
            <a:off x="621720" y="6693480"/>
            <a:ext cx="101732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5" name="Text 6"/>
          <p:cNvSpPr/>
          <p:nvPr/>
        </p:nvSpPr>
        <p:spPr>
          <a:xfrm>
            <a:off x="822960" y="1371600"/>
            <a:ext cx="5166000" cy="2925720"/>
          </a:xfrm>
          <a:prstGeom prst="roundRect">
            <a:avLst>
              <a:gd name="adj" fmla="val 2500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Already working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A simple prompt can produce a signal thesis.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It can also produce a candidate expression.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This is enough to show the concept, not enough for unattended research.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6" name="Text 7"/>
          <p:cNvSpPr/>
          <p:nvPr/>
        </p:nvSpPr>
        <p:spPr>
          <a:xfrm>
            <a:off x="6217920" y="1371600"/>
            <a:ext cx="516600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Current bottleneck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Generated implementation code is not reliable.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It may fail to compile.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It may invent unavailable interfaces.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 Repeated repair is inconsistent.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7" name="Text 8"/>
          <p:cNvSpPr/>
          <p:nvPr/>
        </p:nvSpPr>
        <p:spPr>
          <a:xfrm>
            <a:off x="1097280" y="5029200"/>
            <a:ext cx="10058040" cy="685440"/>
          </a:xfrm>
          <a:prstGeom prst="roundRect">
            <a:avLst>
              <a:gd name="adj" fmla="val 10667"/>
            </a:avLst>
          </a:prstGeom>
          <a:solidFill>
            <a:srgbClr val="FFE5EE"/>
          </a:solidFill>
          <a:ln w="0">
            <a:solidFill>
              <a:srgbClr val="FFC7D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 next dependency is reliable coding and integration, not more thesis generation.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9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0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First milestone: close one complete loop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28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3" name="Shape 5"/>
          <p:cNvSpPr/>
          <p:nvPr/>
        </p:nvSpPr>
        <p:spPr>
          <a:xfrm>
            <a:off x="621720" y="6693480"/>
            <a:ext cx="105498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1097640" y="1280160"/>
            <a:ext cx="15998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Thesis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5" name="Text 7"/>
          <p:cNvSpPr/>
          <p:nvPr/>
        </p:nvSpPr>
        <p:spPr>
          <a:xfrm>
            <a:off x="3639189" y="1293777"/>
            <a:ext cx="2401741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Candidate expression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6" name="Text 8"/>
          <p:cNvSpPr/>
          <p:nvPr/>
        </p:nvSpPr>
        <p:spPr>
          <a:xfrm>
            <a:off x="6556181" y="1284417"/>
            <a:ext cx="15998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Implementation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7" name="Text 9"/>
          <p:cNvSpPr/>
          <p:nvPr/>
        </p:nvSpPr>
        <p:spPr>
          <a:xfrm>
            <a:off x="8658941" y="1280160"/>
            <a:ext cx="2214319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Compile and test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8" name="Text 10"/>
          <p:cNvSpPr/>
          <p:nvPr/>
        </p:nvSpPr>
        <p:spPr>
          <a:xfrm>
            <a:off x="8910713" y="3742959"/>
            <a:ext cx="1962547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 err="1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Backtest</a:t>
            </a: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and statistics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9" name="Text 11"/>
          <p:cNvSpPr/>
          <p:nvPr/>
        </p:nvSpPr>
        <p:spPr>
          <a:xfrm>
            <a:off x="7109910" y="3749040"/>
            <a:ext cx="1285733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Conclusion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0" name="Text 12"/>
          <p:cNvSpPr/>
          <p:nvPr/>
        </p:nvSpPr>
        <p:spPr>
          <a:xfrm>
            <a:off x="4229369" y="3749040"/>
            <a:ext cx="2377621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0B477D"/>
                </a:solidFill>
                <a:latin typeface="Arial" panose="020B0604020202020204"/>
                <a:ea typeface="Arial" panose="020B0604020202020204"/>
              </a:rPr>
              <a:t>Distilling </a:t>
            </a: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1" name="Text 13"/>
          <p:cNvSpPr/>
          <p:nvPr/>
        </p:nvSpPr>
        <p:spPr>
          <a:xfrm>
            <a:off x="1097639" y="3749040"/>
            <a:ext cx="2592359" cy="68544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Compound Library update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2" name="Shape 14"/>
          <p:cNvSpPr/>
          <p:nvPr/>
        </p:nvSpPr>
        <p:spPr>
          <a:xfrm>
            <a:off x="2697840" y="1627560"/>
            <a:ext cx="941349" cy="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3" name="Shape 15"/>
          <p:cNvSpPr/>
          <p:nvPr/>
        </p:nvSpPr>
        <p:spPr>
          <a:xfrm>
            <a:off x="6028961" y="1631817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4" name="Shape 16"/>
          <p:cNvSpPr/>
          <p:nvPr/>
        </p:nvSpPr>
        <p:spPr>
          <a:xfrm>
            <a:off x="8156021" y="1631817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5" name="Shape 17"/>
          <p:cNvSpPr/>
          <p:nvPr/>
        </p:nvSpPr>
        <p:spPr>
          <a:xfrm>
            <a:off x="10068660" y="1965960"/>
            <a:ext cx="360" cy="178308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6" name="Shape 18"/>
          <p:cNvSpPr/>
          <p:nvPr/>
        </p:nvSpPr>
        <p:spPr>
          <a:xfrm flipH="1">
            <a:off x="8407793" y="4091760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7" name="Shape 19"/>
          <p:cNvSpPr/>
          <p:nvPr/>
        </p:nvSpPr>
        <p:spPr>
          <a:xfrm flipH="1">
            <a:off x="6619140" y="4096440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8" name="Shape 20"/>
          <p:cNvSpPr/>
          <p:nvPr/>
        </p:nvSpPr>
        <p:spPr>
          <a:xfrm flipH="1">
            <a:off x="3726089" y="4091760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9" name="Shape 21"/>
          <p:cNvSpPr/>
          <p:nvPr/>
        </p:nvSpPr>
        <p:spPr>
          <a:xfrm flipV="1">
            <a:off x="1892880" y="1965960"/>
            <a:ext cx="360" cy="178308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0" name="Text 22"/>
          <p:cNvSpPr/>
          <p:nvPr/>
        </p:nvSpPr>
        <p:spPr>
          <a:xfrm>
            <a:off x="2697480" y="251460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B477D"/>
                </a:solidFill>
                <a:effectLst/>
                <a:uFillTx/>
                <a:latin typeface="Arial" panose="020B0604020202020204"/>
              </a:rPr>
              <a:t>The loop must produce supported / unsupported / inconclusive conclusion · behavioural profile for each compound · interaction contribution · failure evidence and follow-up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1" name="Text 23"/>
          <p:cNvSpPr/>
          <p:nvPr/>
        </p:nvSpPr>
        <p:spPr>
          <a:xfrm>
            <a:off x="1097280" y="5176080"/>
            <a:ext cx="9966600" cy="81288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Success criterion: complete, reproducible learning loop</a:t>
            </a:r>
            <a:endParaRPr lang="en-US" sz="1400" u="none" strike="noStrike" dirty="0">
              <a:solidFill>
                <a:srgbClr val="0B477D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B477D"/>
                </a:solidFill>
                <a:latin typeface="Arial" panose="020B0604020202020204"/>
                <a:ea typeface="Arial" panose="020B0604020202020204"/>
              </a:rPr>
              <a:t>R</a:t>
            </a: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uns from thesis to evidence, conclusion and updated institutional knowledge.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5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After the loop works: what’s next?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 panose="020B0604020202020204"/>
              </a:rPr>
              <a:t>29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7" name="Shape 5"/>
          <p:cNvSpPr/>
          <p:nvPr/>
        </p:nvSpPr>
        <p:spPr>
          <a:xfrm>
            <a:off x="621720" y="6693480"/>
            <a:ext cx="109267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8" name="Text 6"/>
          <p:cNvSpPr/>
          <p:nvPr/>
        </p:nvSpPr>
        <p:spPr>
          <a:xfrm>
            <a:off x="822960" y="1325880"/>
            <a:ext cx="498312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Broad parallel search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Many ideas, shallow exploration.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9" name="Text 7"/>
          <p:cNvSpPr/>
          <p:nvPr/>
        </p:nvSpPr>
        <p:spPr>
          <a:xfrm>
            <a:off x="6309360" y="1325880"/>
            <a:ext cx="498312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Deep lineage search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One promising family, several recursive generations.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0" name="Text 8"/>
          <p:cNvSpPr/>
          <p:nvPr/>
        </p:nvSpPr>
        <p:spPr>
          <a:xfrm>
            <a:off x="822960" y="3154680"/>
            <a:ext cx="498312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Random exploration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Prevents excessive path dependence.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1" name="Text 9"/>
          <p:cNvSpPr/>
          <p:nvPr/>
        </p:nvSpPr>
        <p:spPr>
          <a:xfrm>
            <a:off x="6309360" y="3154680"/>
            <a:ext cx="4983120" cy="1234080"/>
          </a:xfrm>
          <a:prstGeom prst="roundRect">
            <a:avLst>
              <a:gd name="adj" fmla="val 5926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Human-guided search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Trader tips and market observations combined with Compound Library knowledge.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2" name="Text 10"/>
          <p:cNvSpPr/>
          <p:nvPr/>
        </p:nvSpPr>
        <p:spPr>
          <a:xfrm>
            <a:off x="1280160" y="5440680"/>
            <a:ext cx="9600840" cy="502560"/>
          </a:xfrm>
          <a:prstGeom prst="roundRect">
            <a:avLst>
              <a:gd name="adj" fmla="val 14545"/>
            </a:avLst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Once the loop works, the search policy itself becomes the next research question.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37301</Words>
  <Application>WPS 演示</Application>
  <PresentationFormat>Widescreen</PresentationFormat>
  <Paragraphs>1348</Paragraphs>
  <Slides>49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6" baseType="lpstr">
      <vt:lpstr>Arial</vt:lpstr>
      <vt:lpstr>宋体</vt:lpstr>
      <vt:lpstr>Wingdings</vt:lpstr>
      <vt:lpstr>Arial</vt:lpstr>
      <vt:lpstr>Symbol</vt:lpstr>
      <vt:lpstr>Times New Roman</vt:lpstr>
      <vt:lpstr>微软雅黑</vt:lpstr>
      <vt:lpstr>Arial Unicode MS</vt:lpstr>
      <vt:lpstr>DejaVu Sans</vt:lpstr>
      <vt:lpstr>Calibri</vt:lpstr>
      <vt:lpstr>Arial</vt:lpstr>
      <vt:lpstr>Arial</vt:lpstr>
      <vt:lpstr>Symbol</vt:lpstr>
      <vt:lpstr>Times New Roman</vt:lpstr>
      <vt:lpstr>Wingdings</vt:lpstr>
      <vt:lpstr>Saturday Sans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 Mei</dc:creator>
  <cp:lastModifiedBy>linme</cp:lastModifiedBy>
  <cp:revision>22</cp:revision>
  <dcterms:created xsi:type="dcterms:W3CDTF">2026-09-05T15:44:14Z</dcterms:created>
  <dcterms:modified xsi:type="dcterms:W3CDTF">2026-09-05T16:12:41Z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29</vt:r8>
  </property>
  <property fmtid="{D5CDD505-2E9C-101B-9397-08002B2CF9AE}" pid="3" name="PresentationFormat">
    <vt:lpwstr>On-screen Show (16:9)</vt:lpwstr>
  </property>
  <property fmtid="{D5CDD505-2E9C-101B-9397-08002B2CF9AE}" pid="4" name="Slides">
    <vt:r8>29</vt:r8>
  </property>
  <property fmtid="{D5CDD505-2E9C-101B-9397-08002B2CF9AE}" pid="5" name="ICV">
    <vt:lpwstr>2921701ED68D4C8A965F0E839C399A8F_13</vt:lpwstr>
  </property>
  <property fmtid="{D5CDD505-2E9C-101B-9397-08002B2CF9AE}" pid="6" name="KSOProductBuildVer">
    <vt:lpwstr>2052-12.1.0.24034</vt:lpwstr>
  </property>
</Properties>
</file>